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381">
          <p15:clr>
            <a:srgbClr val="000000"/>
          </p15:clr>
        </p15:guide>
      </p15:sldGuideLst>
    </p:ext>
    <p:ext uri="{2D200454-40CA-4A62-9FC3-DE9A4176ACB9}">
      <p15:notes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880">
          <p15:clr>
            <a:srgbClr val="000000"/>
          </p15:clr>
        </p15:guide>
        <p15:guide id="2" pos="2160">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XYBHJ+0Qr6udQYLtyF6Dx/HuZ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8FB98FCB-1A25-4C5B-8617-F696F424DED2}">
  <a:tblStyle styleId="{8FB98FCB-1A25-4C5B-8617-F696F424DED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9" d="100"/>
          <a:sy n="89" d="100"/>
        </p:scale>
        <p:origin x="-1258" y="230"/>
      </p:cViewPr>
      <p:guideLst>
        <p:guide orient="horz" pos="2160"/>
        <p:guide pos="2381"/>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3659030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a2096760fb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g3a2096760f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g3a2096760fb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a2096760fb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g3a2096760fb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g3a2096760fb_0_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a2096760fb_0_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g3a2096760fb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3a2096760fb_0_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a2096760fb_0_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g3a2096760fb_0_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g3a2096760fb_0_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a2096760fb_0_1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g3a2096760fb_0_1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g3a2096760fb_0_1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a2096760fb_0_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g3a2096760fb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g3a2096760fb_0_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a2096760fb_0_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g3a2096760fb_0_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g3a2096760fb_0_8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a2096760fb_0_1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a2096760fb_0_1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g3a2096760fb_0_1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a2096760fb_0_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g3a2096760fb_0_9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g3a2096760fb_0_9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a2096760fb_0_10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g3a2096760fb_0_10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g3a2096760fb_0_10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a2096760fb_0_1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g3a2096760fb_0_1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g3a2096760fb_0_1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54"/>
        <p:cNvGrpSpPr/>
        <p:nvPr/>
      </p:nvGrpSpPr>
      <p:grpSpPr>
        <a:xfrm>
          <a:off x="0" y="0"/>
          <a:ext cx="0" cy="0"/>
          <a:chOff x="0" y="0"/>
          <a:chExt cx="0" cy="0"/>
        </a:xfrm>
      </p:grpSpPr>
      <p:sp>
        <p:nvSpPr>
          <p:cNvPr id="55" name="Google Shape;55;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58"/>
        <p:cNvGrpSpPr/>
        <p:nvPr/>
      </p:nvGrpSpPr>
      <p:grpSpPr>
        <a:xfrm>
          <a:off x="0" y="0"/>
          <a:ext cx="0" cy="0"/>
          <a:chOff x="0" y="0"/>
          <a:chExt cx="0" cy="0"/>
        </a:xfrm>
      </p:grpSpPr>
      <p:sp>
        <p:nvSpPr>
          <p:cNvPr id="59" name="Google Shape;59;p1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5"/>
        <p:cNvGrpSpPr/>
        <p:nvPr/>
      </p:nvGrpSpPr>
      <p:grpSpPr>
        <a:xfrm>
          <a:off x="0" y="0"/>
          <a:ext cx="0" cy="0"/>
          <a:chOff x="0" y="0"/>
          <a:chExt cx="0" cy="0"/>
        </a:xfrm>
      </p:grpSpPr>
      <p:sp>
        <p:nvSpPr>
          <p:cNvPr id="66" name="Google Shape;66;p2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0"/>
          <p:cNvSpPr>
            <a:spLocks noGrp="1"/>
          </p:cNvSpPr>
          <p:nvPr>
            <p:ph type="pic" idx="2"/>
          </p:nvPr>
        </p:nvSpPr>
        <p:spPr>
          <a:xfrm>
            <a:off x="1792288" y="612775"/>
            <a:ext cx="5486400" cy="4114800"/>
          </a:xfrm>
          <a:prstGeom prst="rect">
            <a:avLst/>
          </a:prstGeom>
          <a:noFill/>
          <a:ln>
            <a:noFill/>
          </a:ln>
        </p:spPr>
      </p:sp>
      <p:sp>
        <p:nvSpPr>
          <p:cNvPr id="68" name="Google Shape;68;p2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72"/>
        <p:cNvGrpSpPr/>
        <p:nvPr/>
      </p:nvGrpSpPr>
      <p:grpSpPr>
        <a:xfrm>
          <a:off x="0" y="0"/>
          <a:ext cx="0" cy="0"/>
          <a:chOff x="0" y="0"/>
          <a:chExt cx="0" cy="0"/>
        </a:xfrm>
      </p:grpSpPr>
      <p:sp>
        <p:nvSpPr>
          <p:cNvPr id="73" name="Google Shape;73;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78"/>
        <p:cNvGrpSpPr/>
        <p:nvPr/>
      </p:nvGrpSpPr>
      <p:grpSpPr>
        <a:xfrm>
          <a:off x="0" y="0"/>
          <a:ext cx="0" cy="0"/>
          <a:chOff x="0" y="0"/>
          <a:chExt cx="0" cy="0"/>
        </a:xfrm>
      </p:grpSpPr>
      <p:sp>
        <p:nvSpPr>
          <p:cNvPr id="79" name="Google Shape;79;p2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90" name="Google Shape;90;p1"/>
          <p:cNvSpPr/>
          <p:nvPr/>
        </p:nvSpPr>
        <p:spPr>
          <a:xfrm>
            <a:off x="4572000" y="6164493"/>
            <a:ext cx="4536000" cy="216024"/>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1" name="Google Shape;91;p1"/>
          <p:cNvSpPr/>
          <p:nvPr/>
        </p:nvSpPr>
        <p:spPr>
          <a:xfrm>
            <a:off x="36000" y="6164493"/>
            <a:ext cx="4536000" cy="216024"/>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2" name="Google Shape;92;p1"/>
          <p:cNvSpPr/>
          <p:nvPr/>
        </p:nvSpPr>
        <p:spPr>
          <a:xfrm>
            <a:off x="-24544" y="4245428"/>
            <a:ext cx="4572000"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i="0" u="sng" strike="noStrike" cap="none">
                <a:solidFill>
                  <a:srgbClr val="D9B300"/>
                </a:solidFill>
                <a:latin typeface="Calibri"/>
                <a:ea typeface="Calibri"/>
                <a:cs typeface="Calibri"/>
                <a:sym typeface="Calibri"/>
              </a:rPr>
              <a:t>Membres du groupe</a:t>
            </a:r>
            <a:r>
              <a:rPr lang="fr-FR" sz="1800" b="1" i="0" u="none" strike="noStrike" cap="none">
                <a:solidFill>
                  <a:srgbClr val="D9B300"/>
                </a:solidFill>
                <a:latin typeface="Calibri"/>
                <a:ea typeface="Calibri"/>
                <a:cs typeface="Calibri"/>
                <a:sym typeface="Calibri"/>
              </a:rPr>
              <a:t> :</a:t>
            </a:r>
            <a:endParaRPr sz="1800">
              <a:solidFill>
                <a:srgbClr val="D9B300"/>
              </a:solidFill>
              <a:latin typeface="Calibri"/>
              <a:ea typeface="Calibri"/>
              <a:cs typeface="Calibri"/>
              <a:sym typeface="Calibri"/>
            </a:endParaRPr>
          </a:p>
          <a:p>
            <a:pPr marL="0" marR="0" lvl="0" indent="0" algn="l" rtl="0">
              <a:spcBef>
                <a:spcPts val="0"/>
              </a:spcBef>
              <a:spcAft>
                <a:spcPts val="0"/>
              </a:spcAft>
              <a:buNone/>
            </a:pPr>
            <a:r>
              <a:rPr lang="fr-FR" sz="1800">
                <a:solidFill>
                  <a:srgbClr val="12239E"/>
                </a:solidFill>
                <a:latin typeface="Calibri"/>
                <a:ea typeface="Calibri"/>
                <a:cs typeface="Calibri"/>
                <a:sym typeface="Calibri"/>
              </a:rPr>
              <a:t>Abdoulaye NDIAYE</a:t>
            </a:r>
            <a:endParaRPr/>
          </a:p>
          <a:p>
            <a:pPr marL="0" marR="0" lvl="0" indent="0" algn="l" rtl="0">
              <a:spcBef>
                <a:spcPts val="0"/>
              </a:spcBef>
              <a:spcAft>
                <a:spcPts val="0"/>
              </a:spcAft>
              <a:buNone/>
            </a:pPr>
            <a:r>
              <a:rPr lang="fr-FR" sz="1800">
                <a:solidFill>
                  <a:srgbClr val="12239E"/>
                </a:solidFill>
                <a:latin typeface="Calibri"/>
                <a:ea typeface="Calibri"/>
                <a:cs typeface="Calibri"/>
                <a:sym typeface="Calibri"/>
              </a:rPr>
              <a:t>Alexandre Cameron BORGES</a:t>
            </a:r>
            <a:endParaRPr/>
          </a:p>
          <a:p>
            <a:pPr marL="0" marR="0" lvl="0" indent="0" algn="l" rtl="0">
              <a:spcBef>
                <a:spcPts val="0"/>
              </a:spcBef>
              <a:spcAft>
                <a:spcPts val="0"/>
              </a:spcAft>
              <a:buNone/>
            </a:pPr>
            <a:r>
              <a:rPr lang="fr-FR" sz="1800">
                <a:solidFill>
                  <a:srgbClr val="12239E"/>
                </a:solidFill>
                <a:latin typeface="Calibri"/>
                <a:ea typeface="Calibri"/>
                <a:cs typeface="Calibri"/>
                <a:sym typeface="Calibri"/>
              </a:rPr>
              <a:t>Damien ORFANIDIS</a:t>
            </a:r>
            <a:endParaRPr/>
          </a:p>
          <a:p>
            <a:pPr marL="0" marR="0" lvl="0" indent="0" algn="l" rtl="0">
              <a:spcBef>
                <a:spcPts val="0"/>
              </a:spcBef>
              <a:spcAft>
                <a:spcPts val="0"/>
              </a:spcAft>
              <a:buNone/>
            </a:pPr>
            <a:r>
              <a:rPr lang="fr-FR" sz="1800">
                <a:solidFill>
                  <a:srgbClr val="12239E"/>
                </a:solidFill>
                <a:latin typeface="Calibri"/>
                <a:ea typeface="Calibri"/>
                <a:cs typeface="Calibri"/>
                <a:sym typeface="Calibri"/>
              </a:rPr>
              <a:t>Fernanda AKPAKLI</a:t>
            </a:r>
            <a:endParaRPr/>
          </a:p>
          <a:p>
            <a:pPr marL="0" marR="0" lvl="0" indent="0" algn="l" rtl="0">
              <a:spcBef>
                <a:spcPts val="0"/>
              </a:spcBef>
              <a:spcAft>
                <a:spcPts val="0"/>
              </a:spcAft>
              <a:buNone/>
            </a:pPr>
            <a:r>
              <a:rPr lang="fr-FR" sz="1800">
                <a:solidFill>
                  <a:srgbClr val="12239E"/>
                </a:solidFill>
                <a:latin typeface="Calibri"/>
                <a:ea typeface="Calibri"/>
                <a:cs typeface="Calibri"/>
                <a:sym typeface="Calibri"/>
              </a:rPr>
              <a:t>Léa GRAVELLARD</a:t>
            </a:r>
            <a:endParaRPr/>
          </a:p>
        </p:txBody>
      </p:sp>
      <p:sp>
        <p:nvSpPr>
          <p:cNvPr id="93" name="Google Shape;93;p1"/>
          <p:cNvSpPr/>
          <p:nvPr/>
        </p:nvSpPr>
        <p:spPr>
          <a:xfrm>
            <a:off x="1763688" y="1617931"/>
            <a:ext cx="559704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3600" b="1">
                <a:solidFill>
                  <a:srgbClr val="12239E"/>
                </a:solidFill>
                <a:latin typeface="Calibri"/>
                <a:ea typeface="Calibri"/>
                <a:cs typeface="Calibri"/>
                <a:sym typeface="Calibri"/>
              </a:rPr>
              <a:t>SEMINAIRE PROFESSIONNEL</a:t>
            </a:r>
            <a:endParaRPr sz="3600">
              <a:solidFill>
                <a:srgbClr val="12239E"/>
              </a:solidFill>
              <a:latin typeface="Calibri"/>
              <a:ea typeface="Calibri"/>
              <a:cs typeface="Calibri"/>
              <a:sym typeface="Calibri"/>
            </a:endParaRPr>
          </a:p>
        </p:txBody>
      </p:sp>
      <p:sp>
        <p:nvSpPr>
          <p:cNvPr id="94" name="Google Shape;94;p1"/>
          <p:cNvSpPr/>
          <p:nvPr/>
        </p:nvSpPr>
        <p:spPr>
          <a:xfrm>
            <a:off x="2539534" y="2747560"/>
            <a:ext cx="4015843"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3200" b="1">
                <a:solidFill>
                  <a:srgbClr val="D9B300"/>
                </a:solidFill>
                <a:latin typeface="Calibri"/>
                <a:ea typeface="Calibri"/>
                <a:cs typeface="Calibri"/>
                <a:sym typeface="Calibri"/>
              </a:rPr>
              <a:t>Présentation du projet</a:t>
            </a:r>
            <a:endParaRPr sz="3200">
              <a:solidFill>
                <a:srgbClr val="D9B300"/>
              </a:solidFill>
              <a:latin typeface="Calibri"/>
              <a:ea typeface="Calibri"/>
              <a:cs typeface="Calibri"/>
              <a:sym typeface="Calibri"/>
            </a:endParaRPr>
          </a:p>
        </p:txBody>
      </p:sp>
      <p:sp>
        <p:nvSpPr>
          <p:cNvPr id="95" name="Google Shape;95;p1"/>
          <p:cNvSpPr/>
          <p:nvPr/>
        </p:nvSpPr>
        <p:spPr>
          <a:xfrm>
            <a:off x="7788408" y="6453377"/>
            <a:ext cx="13195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pic>
        <p:nvPicPr>
          <p:cNvPr id="96" name="Google Shape;96;p1" descr="Azure -"/>
          <p:cNvPicPr preferRelativeResize="0"/>
          <p:nvPr/>
        </p:nvPicPr>
        <p:blipFill rotWithShape="1">
          <a:blip r:embed="rId4">
            <a:alphaModFix/>
          </a:blip>
          <a:srcRect/>
          <a:stretch/>
        </p:blipFill>
        <p:spPr>
          <a:xfrm>
            <a:off x="4139952" y="3430306"/>
            <a:ext cx="864096" cy="864096"/>
          </a:xfrm>
          <a:prstGeom prst="rect">
            <a:avLst/>
          </a:prstGeom>
          <a:noFill/>
          <a:ln>
            <a:noFill/>
          </a:ln>
        </p:spPr>
      </p:pic>
      <p:pic>
        <p:nvPicPr>
          <p:cNvPr id="97" name="Google Shape;97;p1" descr="Azure Data Studio (@AzureDataStudio) / Posts / X"/>
          <p:cNvPicPr preferRelativeResize="0"/>
          <p:nvPr/>
        </p:nvPicPr>
        <p:blipFill rotWithShape="1">
          <a:blip r:embed="rId5">
            <a:alphaModFix/>
          </a:blip>
          <a:srcRect/>
          <a:stretch/>
        </p:blipFill>
        <p:spPr>
          <a:xfrm>
            <a:off x="2539534" y="3340750"/>
            <a:ext cx="1024354" cy="1024354"/>
          </a:xfrm>
          <a:prstGeom prst="rect">
            <a:avLst/>
          </a:prstGeom>
          <a:noFill/>
          <a:ln>
            <a:noFill/>
          </a:ln>
        </p:spPr>
      </p:pic>
      <p:pic>
        <p:nvPicPr>
          <p:cNvPr id="98" name="Google Shape;98;p1" descr="Microsoft Power BI — Wikipédia"/>
          <p:cNvPicPr preferRelativeResize="0"/>
          <p:nvPr/>
        </p:nvPicPr>
        <p:blipFill rotWithShape="1">
          <a:blip r:embed="rId6">
            <a:alphaModFix/>
          </a:blip>
          <a:srcRect/>
          <a:stretch/>
        </p:blipFill>
        <p:spPr>
          <a:xfrm>
            <a:off x="5763289" y="3501008"/>
            <a:ext cx="752927" cy="75292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
          <p:cNvSpPr/>
          <p:nvPr/>
        </p:nvSpPr>
        <p:spPr>
          <a:xfrm>
            <a:off x="179512" y="2780928"/>
            <a:ext cx="1368152" cy="2157155"/>
          </a:xfrm>
          <a:prstGeom prst="rect">
            <a:avLst/>
          </a:prstGeom>
          <a:solidFill>
            <a:srgbClr val="BFBFBF"/>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5" name="Google Shape;105;p2"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106" name="Google Shape;106;p2"/>
          <p:cNvSpPr/>
          <p:nvPr/>
        </p:nvSpPr>
        <p:spPr>
          <a:xfrm>
            <a:off x="4572000" y="6164493"/>
            <a:ext cx="4536000" cy="216024"/>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 name="Google Shape;107;p2"/>
          <p:cNvSpPr/>
          <p:nvPr/>
        </p:nvSpPr>
        <p:spPr>
          <a:xfrm>
            <a:off x="36000" y="6164493"/>
            <a:ext cx="4536000" cy="216024"/>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 name="Google Shape;108;p2"/>
          <p:cNvSpPr/>
          <p:nvPr/>
        </p:nvSpPr>
        <p:spPr>
          <a:xfrm>
            <a:off x="-36512" y="1124744"/>
            <a:ext cx="440114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3200" b="1">
                <a:solidFill>
                  <a:srgbClr val="12239E"/>
                </a:solidFill>
                <a:latin typeface="Calibri"/>
                <a:ea typeface="Calibri"/>
                <a:cs typeface="Calibri"/>
                <a:sym typeface="Calibri"/>
              </a:rPr>
              <a:t>Partie I – 1 : Architecture</a:t>
            </a:r>
            <a:endParaRPr sz="3200">
              <a:solidFill>
                <a:srgbClr val="12239E"/>
              </a:solidFill>
              <a:latin typeface="Calibri"/>
              <a:ea typeface="Calibri"/>
              <a:cs typeface="Calibri"/>
              <a:sym typeface="Calibri"/>
            </a:endParaRPr>
          </a:p>
        </p:txBody>
      </p:sp>
      <p:sp>
        <p:nvSpPr>
          <p:cNvPr id="109" name="Google Shape;109;p2"/>
          <p:cNvSpPr/>
          <p:nvPr/>
        </p:nvSpPr>
        <p:spPr>
          <a:xfrm>
            <a:off x="7788408" y="6453377"/>
            <a:ext cx="13195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110" name="Google Shape;110;p2"/>
          <p:cNvSpPr txBox="1">
            <a:spLocks noGrp="1"/>
          </p:cNvSpPr>
          <p:nvPr>
            <p:ph type="sldNum" idx="12"/>
          </p:nvPr>
        </p:nvSpPr>
        <p:spPr>
          <a:xfrm>
            <a:off x="4572000" y="6448251"/>
            <a:ext cx="792088"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2</a:t>
            </a:fld>
            <a:endParaRPr sz="2400" b="1">
              <a:solidFill>
                <a:srgbClr val="D9B300"/>
              </a:solidFill>
            </a:endParaRPr>
          </a:p>
        </p:txBody>
      </p:sp>
      <p:sp>
        <p:nvSpPr>
          <p:cNvPr id="111" name="Google Shape;111;p2"/>
          <p:cNvSpPr txBox="1"/>
          <p:nvPr/>
        </p:nvSpPr>
        <p:spPr>
          <a:xfrm>
            <a:off x="3347864" y="6448251"/>
            <a:ext cx="1224136"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pic>
        <p:nvPicPr>
          <p:cNvPr id="112" name="Google Shape;112;p2" descr="Fichier:Microsoft Excel 2013-2019 logo.svg"/>
          <p:cNvPicPr preferRelativeResize="0"/>
          <p:nvPr/>
        </p:nvPicPr>
        <p:blipFill rotWithShape="1">
          <a:blip r:embed="rId4">
            <a:alphaModFix/>
          </a:blip>
          <a:srcRect/>
          <a:stretch/>
        </p:blipFill>
        <p:spPr>
          <a:xfrm>
            <a:off x="539552" y="3104289"/>
            <a:ext cx="648072" cy="612743"/>
          </a:xfrm>
          <a:prstGeom prst="rect">
            <a:avLst/>
          </a:prstGeom>
          <a:noFill/>
          <a:ln>
            <a:noFill/>
          </a:ln>
        </p:spPr>
      </p:pic>
      <p:pic>
        <p:nvPicPr>
          <p:cNvPr id="113" name="Google Shape;113;p2" descr="Extension de format de fichier csv - Icônes interface gratuites"/>
          <p:cNvPicPr preferRelativeResize="0"/>
          <p:nvPr/>
        </p:nvPicPr>
        <p:blipFill rotWithShape="1">
          <a:blip r:embed="rId5">
            <a:alphaModFix/>
          </a:blip>
          <a:srcRect/>
          <a:stretch/>
        </p:blipFill>
        <p:spPr>
          <a:xfrm>
            <a:off x="480224" y="3861048"/>
            <a:ext cx="779408" cy="779408"/>
          </a:xfrm>
          <a:prstGeom prst="rect">
            <a:avLst/>
          </a:prstGeom>
          <a:noFill/>
          <a:ln>
            <a:noFill/>
          </a:ln>
        </p:spPr>
      </p:pic>
      <p:pic>
        <p:nvPicPr>
          <p:cNvPr id="114" name="Google Shape;114;p2" descr="Azure Data Lake Storage (Gen 2) | Solace Integration Hub | Solace"/>
          <p:cNvPicPr preferRelativeResize="0"/>
          <p:nvPr/>
        </p:nvPicPr>
        <p:blipFill rotWithShape="1">
          <a:blip r:embed="rId6">
            <a:alphaModFix/>
          </a:blip>
          <a:srcRect/>
          <a:stretch/>
        </p:blipFill>
        <p:spPr>
          <a:xfrm>
            <a:off x="1775560" y="3123167"/>
            <a:ext cx="1435697" cy="1435697"/>
          </a:xfrm>
          <a:prstGeom prst="rect">
            <a:avLst/>
          </a:prstGeom>
          <a:noFill/>
          <a:ln>
            <a:noFill/>
          </a:ln>
        </p:spPr>
      </p:pic>
      <p:pic>
        <p:nvPicPr>
          <p:cNvPr id="115" name="Google Shape;115;p2" descr="Fichier:Microsoft Excel 2013-2019 logo.svg"/>
          <p:cNvPicPr preferRelativeResize="0"/>
          <p:nvPr/>
        </p:nvPicPr>
        <p:blipFill rotWithShape="1">
          <a:blip r:embed="rId4">
            <a:alphaModFix/>
          </a:blip>
          <a:srcRect/>
          <a:stretch/>
        </p:blipFill>
        <p:spPr>
          <a:xfrm>
            <a:off x="2563185" y="3123167"/>
            <a:ext cx="648072" cy="612743"/>
          </a:xfrm>
          <a:prstGeom prst="rect">
            <a:avLst/>
          </a:prstGeom>
          <a:noFill/>
          <a:ln>
            <a:noFill/>
          </a:ln>
        </p:spPr>
      </p:pic>
      <p:pic>
        <p:nvPicPr>
          <p:cNvPr id="116" name="Google Shape;116;p2" descr="Extension de format de fichier csv - Icônes interface gratuites"/>
          <p:cNvPicPr preferRelativeResize="0"/>
          <p:nvPr/>
        </p:nvPicPr>
        <p:blipFill rotWithShape="1">
          <a:blip r:embed="rId5">
            <a:alphaModFix/>
          </a:blip>
          <a:srcRect/>
          <a:stretch/>
        </p:blipFill>
        <p:spPr>
          <a:xfrm>
            <a:off x="2497517" y="3884312"/>
            <a:ext cx="779408" cy="779408"/>
          </a:xfrm>
          <a:prstGeom prst="rect">
            <a:avLst/>
          </a:prstGeom>
          <a:noFill/>
          <a:ln>
            <a:noFill/>
          </a:ln>
        </p:spPr>
      </p:pic>
      <p:sp>
        <p:nvSpPr>
          <p:cNvPr id="117" name="Google Shape;117;p2"/>
          <p:cNvSpPr/>
          <p:nvPr/>
        </p:nvSpPr>
        <p:spPr>
          <a:xfrm>
            <a:off x="1968663" y="4938083"/>
            <a:ext cx="12241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D9B300"/>
                </a:solidFill>
                <a:latin typeface="Calibri"/>
                <a:ea typeface="Calibri"/>
                <a:cs typeface="Calibri"/>
                <a:sym typeface="Calibri"/>
              </a:rPr>
              <a:t>Datalake</a:t>
            </a:r>
            <a:endParaRPr sz="1800" b="1">
              <a:solidFill>
                <a:srgbClr val="D9B300"/>
              </a:solidFill>
              <a:latin typeface="Calibri"/>
              <a:ea typeface="Calibri"/>
              <a:cs typeface="Calibri"/>
              <a:sym typeface="Calibri"/>
            </a:endParaRPr>
          </a:p>
          <a:p>
            <a:pPr marL="0" marR="0" lvl="0" indent="0" algn="ctr" rtl="0">
              <a:spcBef>
                <a:spcPts val="0"/>
              </a:spcBef>
              <a:spcAft>
                <a:spcPts val="0"/>
              </a:spcAft>
              <a:buNone/>
            </a:pPr>
            <a:r>
              <a:rPr lang="fr-FR" sz="1800">
                <a:solidFill>
                  <a:srgbClr val="12239E"/>
                </a:solidFill>
                <a:latin typeface="Calibri"/>
                <a:ea typeface="Calibri"/>
                <a:cs typeface="Calibri"/>
                <a:sym typeface="Calibri"/>
              </a:rPr>
              <a:t>(Gen2)</a:t>
            </a:r>
            <a:endParaRPr/>
          </a:p>
        </p:txBody>
      </p:sp>
      <p:sp>
        <p:nvSpPr>
          <p:cNvPr id="118" name="Google Shape;118;p2"/>
          <p:cNvSpPr/>
          <p:nvPr/>
        </p:nvSpPr>
        <p:spPr>
          <a:xfrm>
            <a:off x="179512" y="4941168"/>
            <a:ext cx="1368152"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D9B300"/>
                </a:solidFill>
                <a:latin typeface="Calibri"/>
                <a:ea typeface="Calibri"/>
                <a:cs typeface="Calibri"/>
                <a:sym typeface="Calibri"/>
              </a:rPr>
              <a:t>Datasources</a:t>
            </a:r>
            <a:endParaRPr sz="1800" b="1">
              <a:solidFill>
                <a:srgbClr val="D9B300"/>
              </a:solidFill>
              <a:latin typeface="Calibri"/>
              <a:ea typeface="Calibri"/>
              <a:cs typeface="Calibri"/>
              <a:sym typeface="Calibri"/>
            </a:endParaRPr>
          </a:p>
        </p:txBody>
      </p:sp>
      <p:sp>
        <p:nvSpPr>
          <p:cNvPr id="119" name="Google Shape;119;p2"/>
          <p:cNvSpPr/>
          <p:nvPr/>
        </p:nvSpPr>
        <p:spPr>
          <a:xfrm>
            <a:off x="3347864" y="3735910"/>
            <a:ext cx="504056" cy="341162"/>
          </a:xfrm>
          <a:prstGeom prst="rightArrow">
            <a:avLst>
              <a:gd name="adj1" fmla="val 50000"/>
              <a:gd name="adj2" fmla="val 50000"/>
            </a:avLst>
          </a:prstGeom>
          <a:solidFill>
            <a:srgbClr val="D9B300"/>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0" name="Google Shape;120;p2" descr="Azure Data Studio (@AzureDataStudio) / Posts / X"/>
          <p:cNvPicPr preferRelativeResize="0"/>
          <p:nvPr/>
        </p:nvPicPr>
        <p:blipFill rotWithShape="1">
          <a:blip r:embed="rId7">
            <a:alphaModFix/>
          </a:blip>
          <a:srcRect/>
          <a:stretch/>
        </p:blipFill>
        <p:spPr>
          <a:xfrm>
            <a:off x="3347864" y="3104289"/>
            <a:ext cx="512177" cy="512177"/>
          </a:xfrm>
          <a:prstGeom prst="rect">
            <a:avLst/>
          </a:prstGeom>
          <a:noFill/>
          <a:ln>
            <a:noFill/>
          </a:ln>
        </p:spPr>
      </p:pic>
      <p:sp>
        <p:nvSpPr>
          <p:cNvPr id="121" name="Google Shape;121;p2"/>
          <p:cNvSpPr/>
          <p:nvPr/>
        </p:nvSpPr>
        <p:spPr>
          <a:xfrm>
            <a:off x="5300201" y="3754788"/>
            <a:ext cx="504056" cy="341162"/>
          </a:xfrm>
          <a:prstGeom prst="rightArrow">
            <a:avLst>
              <a:gd name="adj1" fmla="val 50000"/>
              <a:gd name="adj2" fmla="val 50000"/>
            </a:avLst>
          </a:prstGeom>
          <a:solidFill>
            <a:srgbClr val="D9B300"/>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2" name="Google Shape;122;p2" descr="Azure Data Studio (@AzureDataStudio) / Posts / X"/>
          <p:cNvPicPr preferRelativeResize="0"/>
          <p:nvPr/>
        </p:nvPicPr>
        <p:blipFill rotWithShape="1">
          <a:blip r:embed="rId7">
            <a:alphaModFix/>
          </a:blip>
          <a:srcRect/>
          <a:stretch/>
        </p:blipFill>
        <p:spPr>
          <a:xfrm>
            <a:off x="5300201" y="3123167"/>
            <a:ext cx="512177" cy="512177"/>
          </a:xfrm>
          <a:prstGeom prst="rect">
            <a:avLst/>
          </a:prstGeom>
          <a:noFill/>
          <a:ln>
            <a:noFill/>
          </a:ln>
        </p:spPr>
      </p:pic>
      <p:sp>
        <p:nvSpPr>
          <p:cNvPr id="123" name="Google Shape;123;p2"/>
          <p:cNvSpPr/>
          <p:nvPr/>
        </p:nvSpPr>
        <p:spPr>
          <a:xfrm>
            <a:off x="6956385" y="3754788"/>
            <a:ext cx="504056" cy="341162"/>
          </a:xfrm>
          <a:prstGeom prst="rightArrow">
            <a:avLst>
              <a:gd name="adj1" fmla="val 50000"/>
              <a:gd name="adj2" fmla="val 50000"/>
            </a:avLst>
          </a:prstGeom>
          <a:solidFill>
            <a:srgbClr val="D9B300"/>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4" name="Google Shape;124;p2" descr="Microsoft Power BI — Wikipédia"/>
          <p:cNvPicPr preferRelativeResize="0"/>
          <p:nvPr/>
        </p:nvPicPr>
        <p:blipFill rotWithShape="1">
          <a:blip r:embed="rId8">
            <a:alphaModFix/>
          </a:blip>
          <a:srcRect/>
          <a:stretch/>
        </p:blipFill>
        <p:spPr>
          <a:xfrm>
            <a:off x="7791829" y="3464551"/>
            <a:ext cx="752927" cy="752927"/>
          </a:xfrm>
          <a:prstGeom prst="rect">
            <a:avLst/>
          </a:prstGeom>
          <a:noFill/>
          <a:ln>
            <a:noFill/>
          </a:ln>
        </p:spPr>
      </p:pic>
      <p:sp>
        <p:nvSpPr>
          <p:cNvPr id="125" name="Google Shape;125;p2"/>
          <p:cNvSpPr/>
          <p:nvPr/>
        </p:nvSpPr>
        <p:spPr>
          <a:xfrm>
            <a:off x="7596336" y="4941168"/>
            <a:ext cx="115212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D9B300"/>
                </a:solidFill>
                <a:latin typeface="Calibri"/>
                <a:ea typeface="Calibri"/>
                <a:cs typeface="Calibri"/>
                <a:sym typeface="Calibri"/>
              </a:rPr>
              <a:t>Reporting</a:t>
            </a:r>
            <a:endParaRPr sz="1800" b="1">
              <a:solidFill>
                <a:srgbClr val="D9B300"/>
              </a:solidFill>
              <a:latin typeface="Calibri"/>
              <a:ea typeface="Calibri"/>
              <a:cs typeface="Calibri"/>
              <a:sym typeface="Calibri"/>
            </a:endParaRPr>
          </a:p>
        </p:txBody>
      </p:sp>
      <p:pic>
        <p:nvPicPr>
          <p:cNvPr id="126" name="Google Shape;126;p2" descr="Azure SQL Database : l'offre gratuite s'invite dans la plateforme  infonuagique - ModernTI"/>
          <p:cNvPicPr preferRelativeResize="0"/>
          <p:nvPr/>
        </p:nvPicPr>
        <p:blipFill rotWithShape="1">
          <a:blip r:embed="rId9">
            <a:alphaModFix/>
          </a:blip>
          <a:srcRect/>
          <a:stretch/>
        </p:blipFill>
        <p:spPr>
          <a:xfrm>
            <a:off x="4004057" y="3232800"/>
            <a:ext cx="1210637" cy="1210637"/>
          </a:xfrm>
          <a:prstGeom prst="rect">
            <a:avLst/>
          </a:prstGeom>
          <a:noFill/>
          <a:ln>
            <a:noFill/>
          </a:ln>
        </p:spPr>
      </p:pic>
      <p:pic>
        <p:nvPicPr>
          <p:cNvPr id="127" name="Google Shape;127;p2" descr="Azure SQL Database : l'offre gratuite s'invite dans la plateforme  infonuagique - ModernTI"/>
          <p:cNvPicPr preferRelativeResize="0"/>
          <p:nvPr/>
        </p:nvPicPr>
        <p:blipFill rotWithShape="1">
          <a:blip r:embed="rId9">
            <a:alphaModFix/>
          </a:blip>
          <a:srcRect/>
          <a:stretch/>
        </p:blipFill>
        <p:spPr>
          <a:xfrm>
            <a:off x="5804257" y="3226475"/>
            <a:ext cx="1210637" cy="1210637"/>
          </a:xfrm>
          <a:prstGeom prst="rect">
            <a:avLst/>
          </a:prstGeom>
          <a:noFill/>
          <a:ln>
            <a:noFill/>
          </a:ln>
        </p:spPr>
      </p:pic>
      <p:sp>
        <p:nvSpPr>
          <p:cNvPr id="128" name="Google Shape;128;p2"/>
          <p:cNvSpPr/>
          <p:nvPr/>
        </p:nvSpPr>
        <p:spPr>
          <a:xfrm>
            <a:off x="3860041" y="4952688"/>
            <a:ext cx="1432039"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D9B300"/>
                </a:solidFill>
                <a:latin typeface="Calibri"/>
                <a:ea typeface="Calibri"/>
                <a:cs typeface="Calibri"/>
                <a:sym typeface="Calibri"/>
              </a:rPr>
              <a:t>Operational Data Store</a:t>
            </a:r>
            <a:endParaRPr/>
          </a:p>
          <a:p>
            <a:pPr marL="0" marR="0" lvl="0" indent="0" algn="ctr" rtl="0">
              <a:spcBef>
                <a:spcPts val="0"/>
              </a:spcBef>
              <a:spcAft>
                <a:spcPts val="0"/>
              </a:spcAft>
              <a:buNone/>
            </a:pPr>
            <a:r>
              <a:rPr lang="fr-FR" sz="1800">
                <a:solidFill>
                  <a:srgbClr val="12239E"/>
                </a:solidFill>
                <a:latin typeface="Calibri"/>
                <a:ea typeface="Calibri"/>
                <a:cs typeface="Calibri"/>
                <a:sym typeface="Calibri"/>
              </a:rPr>
              <a:t>(Azure SQL server)</a:t>
            </a:r>
            <a:endParaRPr/>
          </a:p>
        </p:txBody>
      </p:sp>
      <p:sp>
        <p:nvSpPr>
          <p:cNvPr id="129" name="Google Shape;129;p2"/>
          <p:cNvSpPr/>
          <p:nvPr/>
        </p:nvSpPr>
        <p:spPr>
          <a:xfrm>
            <a:off x="5693555" y="4964975"/>
            <a:ext cx="1432039"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a:solidFill>
                  <a:srgbClr val="D9B300"/>
                </a:solidFill>
                <a:latin typeface="Calibri"/>
                <a:ea typeface="Calibri"/>
                <a:cs typeface="Calibri"/>
                <a:sym typeface="Calibri"/>
              </a:rPr>
              <a:t>Data Warehouse</a:t>
            </a:r>
            <a:endParaRPr sz="1800" b="1">
              <a:solidFill>
                <a:srgbClr val="D9B300"/>
              </a:solidFill>
              <a:latin typeface="Calibri"/>
              <a:ea typeface="Calibri"/>
              <a:cs typeface="Calibri"/>
              <a:sym typeface="Calibri"/>
            </a:endParaRPr>
          </a:p>
          <a:p>
            <a:pPr marL="0" marR="0" lvl="0" indent="0" algn="ctr" rtl="0">
              <a:spcBef>
                <a:spcPts val="0"/>
              </a:spcBef>
              <a:spcAft>
                <a:spcPts val="0"/>
              </a:spcAft>
              <a:buNone/>
            </a:pPr>
            <a:r>
              <a:rPr lang="fr-FR" sz="1800">
                <a:solidFill>
                  <a:srgbClr val="12239E"/>
                </a:solidFill>
                <a:latin typeface="Calibri"/>
                <a:ea typeface="Calibri"/>
                <a:cs typeface="Calibri"/>
                <a:sym typeface="Calibri"/>
              </a:rPr>
              <a:t>(Azure SQL server)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3"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136" name="Google Shape;136;p3"/>
          <p:cNvSpPr/>
          <p:nvPr/>
        </p:nvSpPr>
        <p:spPr>
          <a:xfrm>
            <a:off x="4572000" y="6164493"/>
            <a:ext cx="4536000" cy="216024"/>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3"/>
          <p:cNvSpPr/>
          <p:nvPr/>
        </p:nvSpPr>
        <p:spPr>
          <a:xfrm>
            <a:off x="36000" y="6164493"/>
            <a:ext cx="4536000" cy="216024"/>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 name="Google Shape;138;p3"/>
          <p:cNvSpPr/>
          <p:nvPr/>
        </p:nvSpPr>
        <p:spPr>
          <a:xfrm>
            <a:off x="-36512" y="1124744"/>
            <a:ext cx="451437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3200" b="1">
                <a:solidFill>
                  <a:srgbClr val="12239E"/>
                </a:solidFill>
                <a:latin typeface="Calibri"/>
                <a:ea typeface="Calibri"/>
                <a:cs typeface="Calibri"/>
                <a:sym typeface="Calibri"/>
              </a:rPr>
              <a:t>Partie I – 2 : Schéma cible</a:t>
            </a:r>
            <a:endParaRPr sz="3200">
              <a:solidFill>
                <a:srgbClr val="12239E"/>
              </a:solidFill>
              <a:latin typeface="Calibri"/>
              <a:ea typeface="Calibri"/>
              <a:cs typeface="Calibri"/>
              <a:sym typeface="Calibri"/>
            </a:endParaRPr>
          </a:p>
        </p:txBody>
      </p:sp>
      <p:sp>
        <p:nvSpPr>
          <p:cNvPr id="139" name="Google Shape;139;p3"/>
          <p:cNvSpPr/>
          <p:nvPr/>
        </p:nvSpPr>
        <p:spPr>
          <a:xfrm>
            <a:off x="7788408" y="6453377"/>
            <a:ext cx="13195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140" name="Google Shape;140;p3"/>
          <p:cNvSpPr txBox="1">
            <a:spLocks noGrp="1"/>
          </p:cNvSpPr>
          <p:nvPr>
            <p:ph type="sldNum" idx="12"/>
          </p:nvPr>
        </p:nvSpPr>
        <p:spPr>
          <a:xfrm>
            <a:off x="4572000" y="6448251"/>
            <a:ext cx="792088"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3</a:t>
            </a:fld>
            <a:endParaRPr sz="2400" b="1">
              <a:solidFill>
                <a:srgbClr val="D9B300"/>
              </a:solidFill>
            </a:endParaRPr>
          </a:p>
        </p:txBody>
      </p:sp>
      <p:sp>
        <p:nvSpPr>
          <p:cNvPr id="141" name="Google Shape;141;p3"/>
          <p:cNvSpPr txBox="1"/>
          <p:nvPr/>
        </p:nvSpPr>
        <p:spPr>
          <a:xfrm>
            <a:off x="3419872" y="6448251"/>
            <a:ext cx="1152128"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a:solidFill>
                  <a:srgbClr val="D9B300"/>
                </a:solidFill>
                <a:latin typeface="Calibri"/>
                <a:ea typeface="Calibri"/>
                <a:cs typeface="Calibri"/>
                <a:sym typeface="Calibri"/>
              </a:rPr>
              <a:t>Page</a:t>
            </a:r>
            <a:endParaRPr sz="2400" b="1">
              <a:solidFill>
                <a:srgbClr val="D9B300"/>
              </a:solidFill>
              <a:latin typeface="Calibri"/>
              <a:ea typeface="Calibri"/>
              <a:cs typeface="Calibri"/>
              <a:sym typeface="Calibri"/>
            </a:endParaRPr>
          </a:p>
        </p:txBody>
      </p:sp>
      <p:graphicFrame>
        <p:nvGraphicFramePr>
          <p:cNvPr id="142" name="Google Shape;142;p3"/>
          <p:cNvGraphicFramePr/>
          <p:nvPr/>
        </p:nvGraphicFramePr>
        <p:xfrm>
          <a:off x="179512" y="2204864"/>
          <a:ext cx="1859625" cy="1010940"/>
        </p:xfrm>
        <a:graphic>
          <a:graphicData uri="http://schemas.openxmlformats.org/drawingml/2006/table">
            <a:tbl>
              <a:tblPr firstRow="1" bandRow="1">
                <a:noFill/>
                <a:tableStyleId>{8FB98FCB-1A25-4C5B-8617-F696F424DED2}</a:tableStyleId>
              </a:tblPr>
              <a:tblGrid>
                <a:gridCol w="1859625"/>
              </a:tblGrid>
              <a:tr h="370850">
                <a:tc>
                  <a:txBody>
                    <a:bodyPr/>
                    <a:lstStyle/>
                    <a:p>
                      <a:pPr marL="0" marR="0" lvl="0" indent="0" algn="l" rtl="0">
                        <a:spcBef>
                          <a:spcPts val="0"/>
                        </a:spcBef>
                        <a:spcAft>
                          <a:spcPts val="0"/>
                        </a:spcAft>
                        <a:buNone/>
                      </a:pPr>
                      <a:r>
                        <a:rPr lang="fr-FR" sz="1800" u="none" strike="noStrike" cap="none"/>
                        <a:t>Type transaction (Dim.)</a:t>
                      </a:r>
                      <a:endParaRPr sz="1800"/>
                    </a:p>
                  </a:txBody>
                  <a:tcPr marL="91450" marR="91450" marT="45725" marB="45725">
                    <a:solidFill>
                      <a:srgbClr val="12239E"/>
                    </a:solidFill>
                  </a:tcPr>
                </a:tc>
              </a:tr>
              <a:tr h="370850">
                <a:tc>
                  <a:txBody>
                    <a:bodyPr/>
                    <a:lstStyle/>
                    <a:p>
                      <a:pPr marL="0" marR="0" lvl="0" indent="0" algn="l" rtl="0">
                        <a:spcBef>
                          <a:spcPts val="0"/>
                        </a:spcBef>
                        <a:spcAft>
                          <a:spcPts val="0"/>
                        </a:spcAft>
                        <a:buNone/>
                      </a:pPr>
                      <a:r>
                        <a:rPr lang="fr-FR" sz="1400"/>
                        <a:t>Id_type_transaction</a:t>
                      </a:r>
                      <a:endParaRPr sz="1400"/>
                    </a:p>
                  </a:txBody>
                  <a:tcPr marL="91450" marR="91450" marT="45725" marB="45725"/>
                </a:tc>
              </a:tr>
            </a:tbl>
          </a:graphicData>
        </a:graphic>
      </p:graphicFrame>
      <p:graphicFrame>
        <p:nvGraphicFramePr>
          <p:cNvPr id="143" name="Google Shape;143;p3"/>
          <p:cNvGraphicFramePr/>
          <p:nvPr/>
        </p:nvGraphicFramePr>
        <p:xfrm>
          <a:off x="2490064" y="2276872"/>
          <a:ext cx="1859625" cy="3236040"/>
        </p:xfrm>
        <a:graphic>
          <a:graphicData uri="http://schemas.openxmlformats.org/drawingml/2006/table">
            <a:tbl>
              <a:tblPr firstRow="1" bandRow="1">
                <a:noFill/>
                <a:tableStyleId>{8FB98FCB-1A25-4C5B-8617-F696F424DED2}</a:tableStyleId>
              </a:tblPr>
              <a:tblGrid>
                <a:gridCol w="1859625"/>
              </a:tblGrid>
              <a:tr h="370850">
                <a:tc>
                  <a:txBody>
                    <a:bodyPr/>
                    <a:lstStyle/>
                    <a:p>
                      <a:pPr marL="0" marR="0" lvl="0" indent="0" algn="l" rtl="0">
                        <a:spcBef>
                          <a:spcPts val="0"/>
                        </a:spcBef>
                        <a:spcAft>
                          <a:spcPts val="0"/>
                        </a:spcAft>
                        <a:buNone/>
                      </a:pPr>
                      <a:r>
                        <a:rPr lang="fr-FR" sz="1800">
                          <a:solidFill>
                            <a:srgbClr val="12239E"/>
                          </a:solidFill>
                        </a:rPr>
                        <a:t>Type transaction (Fact)</a:t>
                      </a:r>
                      <a:endParaRPr sz="1800">
                        <a:solidFill>
                          <a:srgbClr val="12239E"/>
                        </a:solidFill>
                      </a:endParaRPr>
                    </a:p>
                  </a:txBody>
                  <a:tcPr marL="91450" marR="91450" marT="45725" marB="45725">
                    <a:solidFill>
                      <a:srgbClr val="D9B300"/>
                    </a:solidFill>
                  </a:tcPr>
                </a:tc>
              </a:tr>
              <a:tr h="370850">
                <a:tc>
                  <a:txBody>
                    <a:bodyPr/>
                    <a:lstStyle/>
                    <a:p>
                      <a:pPr marL="0" marR="0" lvl="0" indent="0" algn="l" rtl="0">
                        <a:spcBef>
                          <a:spcPts val="0"/>
                        </a:spcBef>
                        <a:spcAft>
                          <a:spcPts val="0"/>
                        </a:spcAft>
                        <a:buNone/>
                      </a:pPr>
                      <a:r>
                        <a:rPr lang="fr-FR" sz="1400"/>
                        <a:t>Id_date</a:t>
                      </a:r>
                      <a:endParaRPr sz="1400"/>
                    </a:p>
                  </a:txBody>
                  <a:tcPr marL="91450" marR="91450" marT="45725" marB="45725"/>
                </a:tc>
              </a:tr>
              <a:tr h="370850">
                <a:tc>
                  <a:txBody>
                    <a:bodyPr/>
                    <a:lstStyle/>
                    <a:p>
                      <a:pPr marL="0" marR="0" lvl="0" indent="0" algn="l" rtl="0">
                        <a:spcBef>
                          <a:spcPts val="0"/>
                        </a:spcBef>
                        <a:spcAft>
                          <a:spcPts val="0"/>
                        </a:spcAft>
                        <a:buNone/>
                      </a:pPr>
                      <a:r>
                        <a:rPr lang="fr-FR" sz="1400"/>
                        <a:t>Id_transaction</a:t>
                      </a:r>
                      <a:endParaRPr sz="1400"/>
                    </a:p>
                  </a:txBody>
                  <a:tcPr marL="91450" marR="91450" marT="45725" marB="45725"/>
                </a:tc>
              </a:tr>
              <a:tr h="370850">
                <a:tc>
                  <a:txBody>
                    <a:bodyPr/>
                    <a:lstStyle/>
                    <a:p>
                      <a:pPr marL="0" marR="0" lvl="0" indent="0" algn="l" rtl="0">
                        <a:spcBef>
                          <a:spcPts val="0"/>
                        </a:spcBef>
                        <a:spcAft>
                          <a:spcPts val="0"/>
                        </a:spcAft>
                        <a:buNone/>
                      </a:pPr>
                      <a:r>
                        <a:rPr lang="fr-FR" sz="1400"/>
                        <a:t>Montant_transaction</a:t>
                      </a:r>
                      <a:endParaRPr sz="1400"/>
                    </a:p>
                  </a:txBody>
                  <a:tcPr marL="91450" marR="91450" marT="45725" marB="45725"/>
                </a:tc>
              </a:tr>
              <a:tr h="370850">
                <a:tc>
                  <a:txBody>
                    <a:bodyPr/>
                    <a:lstStyle/>
                    <a:p>
                      <a:pPr marL="0" marR="0" lvl="0" indent="0" algn="l" rtl="0">
                        <a:spcBef>
                          <a:spcPts val="0"/>
                        </a:spcBef>
                        <a:spcAft>
                          <a:spcPts val="0"/>
                        </a:spcAft>
                        <a:buNone/>
                      </a:pPr>
                      <a:r>
                        <a:rPr lang="fr-FR" sz="1400"/>
                        <a:t>Id_agence</a:t>
                      </a:r>
                      <a:endParaRPr sz="1400"/>
                    </a:p>
                  </a:txBody>
                  <a:tcPr marL="91450" marR="91450" marT="45725" marB="45725"/>
                </a:tc>
              </a:tr>
              <a:tr h="370850">
                <a:tc>
                  <a:txBody>
                    <a:bodyPr/>
                    <a:lstStyle/>
                    <a:p>
                      <a:pPr marL="0" marR="0" lvl="0" indent="0" algn="l" rtl="0">
                        <a:spcBef>
                          <a:spcPts val="0"/>
                        </a:spcBef>
                        <a:spcAft>
                          <a:spcPts val="0"/>
                        </a:spcAft>
                        <a:buNone/>
                      </a:pPr>
                      <a:r>
                        <a:rPr lang="fr-FR" sz="1400"/>
                        <a:t>Id_client</a:t>
                      </a:r>
                      <a:endParaRPr sz="1400"/>
                    </a:p>
                  </a:txBody>
                  <a:tcPr marL="91450" marR="91450" marT="45725" marB="45725"/>
                </a:tc>
              </a:tr>
              <a:tr h="370850">
                <a:tc>
                  <a:txBody>
                    <a:bodyPr/>
                    <a:lstStyle/>
                    <a:p>
                      <a:pPr marL="0" marR="0" lvl="0" indent="0" algn="l" rtl="0">
                        <a:spcBef>
                          <a:spcPts val="0"/>
                        </a:spcBef>
                        <a:spcAft>
                          <a:spcPts val="0"/>
                        </a:spcAft>
                        <a:buNone/>
                      </a:pPr>
                      <a:r>
                        <a:rPr lang="fr-FR" sz="1400"/>
                        <a:t>Id_produit</a:t>
                      </a:r>
                      <a:endParaRPr sz="1400"/>
                    </a:p>
                  </a:txBody>
                  <a:tcPr marL="91450" marR="91450" marT="45725" marB="45725"/>
                </a:tc>
              </a:tr>
              <a:tr h="370850">
                <a:tc>
                  <a:txBody>
                    <a:bodyPr/>
                    <a:lstStyle/>
                    <a:p>
                      <a:pPr marL="0" marR="0" lvl="0" indent="0" algn="l" rtl="0">
                        <a:spcBef>
                          <a:spcPts val="0"/>
                        </a:spcBef>
                        <a:spcAft>
                          <a:spcPts val="0"/>
                        </a:spcAft>
                        <a:buNone/>
                      </a:pPr>
                      <a:r>
                        <a:rPr lang="fr-FR" sz="1400"/>
                        <a:t>Id_type_transaction</a:t>
                      </a:r>
                      <a:endParaRPr sz="1400"/>
                    </a:p>
                  </a:txBody>
                  <a:tcPr marL="91450" marR="91450" marT="45725" marB="45725"/>
                </a:tc>
              </a:tr>
            </a:tbl>
          </a:graphicData>
        </a:graphic>
      </p:graphicFrame>
      <p:graphicFrame>
        <p:nvGraphicFramePr>
          <p:cNvPr id="144" name="Google Shape;144;p3"/>
          <p:cNvGraphicFramePr/>
          <p:nvPr/>
        </p:nvGraphicFramePr>
        <p:xfrm>
          <a:off x="179512" y="3551416"/>
          <a:ext cx="1859625" cy="741700"/>
        </p:xfrm>
        <a:graphic>
          <a:graphicData uri="http://schemas.openxmlformats.org/drawingml/2006/table">
            <a:tbl>
              <a:tblPr firstRow="1" bandRow="1">
                <a:noFill/>
                <a:tableStyleId>{8FB98FCB-1A25-4C5B-8617-F696F424DED2}</a:tableStyleId>
              </a:tblPr>
              <a:tblGrid>
                <a:gridCol w="1859625"/>
              </a:tblGrid>
              <a:tr h="370850">
                <a:tc>
                  <a:txBody>
                    <a:bodyPr/>
                    <a:lstStyle/>
                    <a:p>
                      <a:pPr marL="0" marR="0" lvl="0" indent="0" algn="l" rtl="0">
                        <a:spcBef>
                          <a:spcPts val="0"/>
                        </a:spcBef>
                        <a:spcAft>
                          <a:spcPts val="0"/>
                        </a:spcAft>
                        <a:buNone/>
                      </a:pPr>
                      <a:r>
                        <a:rPr lang="fr-FR" sz="1800"/>
                        <a:t>Clients (Dim)</a:t>
                      </a:r>
                      <a:endParaRPr sz="1800"/>
                    </a:p>
                  </a:txBody>
                  <a:tcPr marL="91450" marR="91450" marT="45725" marB="45725">
                    <a:solidFill>
                      <a:srgbClr val="12239E"/>
                    </a:solidFill>
                  </a:tcPr>
                </a:tc>
              </a:tr>
              <a:tr h="370850">
                <a:tc>
                  <a:txBody>
                    <a:bodyPr/>
                    <a:lstStyle/>
                    <a:p>
                      <a:pPr marL="0" marR="0" lvl="0" indent="0" algn="l" rtl="0">
                        <a:spcBef>
                          <a:spcPts val="0"/>
                        </a:spcBef>
                        <a:spcAft>
                          <a:spcPts val="0"/>
                        </a:spcAft>
                        <a:buNone/>
                      </a:pPr>
                      <a:r>
                        <a:rPr lang="fr-FR" sz="1400" dirty="0" err="1"/>
                        <a:t>Id_client</a:t>
                      </a:r>
                      <a:endParaRPr sz="1400" dirty="0"/>
                    </a:p>
                  </a:txBody>
                  <a:tcPr marL="91450" marR="91450" marT="45725" marB="45725"/>
                </a:tc>
              </a:tr>
            </a:tbl>
          </a:graphicData>
        </a:graphic>
      </p:graphicFrame>
      <p:graphicFrame>
        <p:nvGraphicFramePr>
          <p:cNvPr id="145" name="Google Shape;145;p3"/>
          <p:cNvGraphicFramePr/>
          <p:nvPr/>
        </p:nvGraphicFramePr>
        <p:xfrm>
          <a:off x="179512" y="4581128"/>
          <a:ext cx="1859625" cy="1010940"/>
        </p:xfrm>
        <a:graphic>
          <a:graphicData uri="http://schemas.openxmlformats.org/drawingml/2006/table">
            <a:tbl>
              <a:tblPr firstRow="1" bandRow="1">
                <a:noFill/>
                <a:tableStyleId>{8FB98FCB-1A25-4C5B-8617-F696F424DED2}</a:tableStyleId>
              </a:tblPr>
              <a:tblGrid>
                <a:gridCol w="1859625"/>
              </a:tblGrid>
              <a:tr h="370850">
                <a:tc>
                  <a:txBody>
                    <a:bodyPr/>
                    <a:lstStyle/>
                    <a:p>
                      <a:pPr marL="0" marR="0" lvl="0" indent="0" algn="l" rtl="0">
                        <a:spcBef>
                          <a:spcPts val="0"/>
                        </a:spcBef>
                        <a:spcAft>
                          <a:spcPts val="0"/>
                        </a:spcAft>
                        <a:buNone/>
                      </a:pPr>
                      <a:r>
                        <a:rPr lang="fr-FR" sz="1800"/>
                        <a:t>Produits bancaires (Dim)</a:t>
                      </a:r>
                      <a:endParaRPr sz="1800"/>
                    </a:p>
                  </a:txBody>
                  <a:tcPr marL="91450" marR="91450" marT="45725" marB="45725">
                    <a:solidFill>
                      <a:srgbClr val="12239E"/>
                    </a:solidFill>
                  </a:tcPr>
                </a:tc>
              </a:tr>
              <a:tr h="370850">
                <a:tc>
                  <a:txBody>
                    <a:bodyPr/>
                    <a:lstStyle/>
                    <a:p>
                      <a:pPr marL="0" marR="0" lvl="0" indent="0" algn="l" rtl="0">
                        <a:spcBef>
                          <a:spcPts val="0"/>
                        </a:spcBef>
                        <a:spcAft>
                          <a:spcPts val="0"/>
                        </a:spcAft>
                        <a:buNone/>
                      </a:pPr>
                      <a:r>
                        <a:rPr lang="fr-FR" sz="1400" dirty="0" err="1"/>
                        <a:t>Id_produit</a:t>
                      </a:r>
                      <a:endParaRPr sz="1400" dirty="0"/>
                    </a:p>
                  </a:txBody>
                  <a:tcPr marL="91450" marR="91450" marT="45725" marB="45725"/>
                </a:tc>
              </a:tr>
            </a:tbl>
          </a:graphicData>
        </a:graphic>
      </p:graphicFrame>
      <p:graphicFrame>
        <p:nvGraphicFramePr>
          <p:cNvPr id="146" name="Google Shape;146;p3"/>
          <p:cNvGraphicFramePr/>
          <p:nvPr/>
        </p:nvGraphicFramePr>
        <p:xfrm>
          <a:off x="4716016" y="2348880"/>
          <a:ext cx="1859625" cy="741700"/>
        </p:xfrm>
        <a:graphic>
          <a:graphicData uri="http://schemas.openxmlformats.org/drawingml/2006/table">
            <a:tbl>
              <a:tblPr firstRow="1" bandRow="1">
                <a:noFill/>
                <a:tableStyleId>{8FB98FCB-1A25-4C5B-8617-F696F424DED2}</a:tableStyleId>
              </a:tblPr>
              <a:tblGrid>
                <a:gridCol w="1859625"/>
              </a:tblGrid>
              <a:tr h="370850">
                <a:tc>
                  <a:txBody>
                    <a:bodyPr/>
                    <a:lstStyle/>
                    <a:p>
                      <a:pPr marL="0" marR="0" lvl="0" indent="0" algn="l" rtl="0">
                        <a:spcBef>
                          <a:spcPts val="0"/>
                        </a:spcBef>
                        <a:spcAft>
                          <a:spcPts val="0"/>
                        </a:spcAft>
                        <a:buNone/>
                      </a:pPr>
                      <a:r>
                        <a:rPr lang="fr-FR" sz="1800"/>
                        <a:t>Calendrier (Dim.)</a:t>
                      </a:r>
                      <a:endParaRPr sz="1800"/>
                    </a:p>
                  </a:txBody>
                  <a:tcPr marL="91450" marR="91450" marT="45725" marB="45725">
                    <a:solidFill>
                      <a:srgbClr val="12239E"/>
                    </a:solidFill>
                  </a:tcPr>
                </a:tc>
              </a:tr>
              <a:tr h="370850">
                <a:tc>
                  <a:txBody>
                    <a:bodyPr/>
                    <a:lstStyle/>
                    <a:p>
                      <a:pPr marL="0" marR="0" lvl="0" indent="0" algn="l" rtl="0">
                        <a:spcBef>
                          <a:spcPts val="0"/>
                        </a:spcBef>
                        <a:spcAft>
                          <a:spcPts val="0"/>
                        </a:spcAft>
                        <a:buNone/>
                      </a:pPr>
                      <a:r>
                        <a:rPr lang="fr-FR" sz="1400" dirty="0" err="1"/>
                        <a:t>Id_date</a:t>
                      </a:r>
                      <a:endParaRPr sz="1400" dirty="0"/>
                    </a:p>
                  </a:txBody>
                  <a:tcPr marL="91450" marR="91450" marT="45725" marB="45725"/>
                </a:tc>
              </a:tr>
            </a:tbl>
          </a:graphicData>
        </a:graphic>
      </p:graphicFrame>
      <p:graphicFrame>
        <p:nvGraphicFramePr>
          <p:cNvPr id="147" name="Google Shape;147;p3"/>
          <p:cNvGraphicFramePr/>
          <p:nvPr/>
        </p:nvGraphicFramePr>
        <p:xfrm>
          <a:off x="4716016" y="3429000"/>
          <a:ext cx="1859625" cy="741700"/>
        </p:xfrm>
        <a:graphic>
          <a:graphicData uri="http://schemas.openxmlformats.org/drawingml/2006/table">
            <a:tbl>
              <a:tblPr firstRow="1" bandRow="1">
                <a:noFill/>
                <a:tableStyleId>{8FB98FCB-1A25-4C5B-8617-F696F424DED2}</a:tableStyleId>
              </a:tblPr>
              <a:tblGrid>
                <a:gridCol w="1859625"/>
              </a:tblGrid>
              <a:tr h="370850">
                <a:tc>
                  <a:txBody>
                    <a:bodyPr/>
                    <a:lstStyle/>
                    <a:p>
                      <a:pPr marL="0" marR="0" lvl="0" indent="0" algn="l" rtl="0">
                        <a:spcBef>
                          <a:spcPts val="0"/>
                        </a:spcBef>
                        <a:spcAft>
                          <a:spcPts val="0"/>
                        </a:spcAft>
                        <a:buNone/>
                      </a:pPr>
                      <a:r>
                        <a:rPr lang="fr-FR" sz="1800"/>
                        <a:t>Agences (Dim.)</a:t>
                      </a:r>
                      <a:endParaRPr sz="1800"/>
                    </a:p>
                  </a:txBody>
                  <a:tcPr marL="91450" marR="91450" marT="45725" marB="45725">
                    <a:solidFill>
                      <a:srgbClr val="12239E"/>
                    </a:solidFill>
                  </a:tcPr>
                </a:tc>
              </a:tr>
              <a:tr h="370850">
                <a:tc>
                  <a:txBody>
                    <a:bodyPr/>
                    <a:lstStyle/>
                    <a:p>
                      <a:pPr marL="0" marR="0" lvl="0" indent="0" algn="l" rtl="0">
                        <a:spcBef>
                          <a:spcPts val="0"/>
                        </a:spcBef>
                        <a:spcAft>
                          <a:spcPts val="0"/>
                        </a:spcAft>
                        <a:buNone/>
                      </a:pPr>
                      <a:r>
                        <a:rPr lang="fr-FR" sz="1400"/>
                        <a:t>Id_agence</a:t>
                      </a:r>
                      <a:endParaRPr sz="1400"/>
                    </a:p>
                  </a:txBody>
                  <a:tcPr marL="91450" marR="91450" marT="45725" marB="45725"/>
                </a:tc>
              </a:tr>
            </a:tbl>
          </a:graphicData>
        </a:graphic>
      </p:graphicFrame>
      <p:graphicFrame>
        <p:nvGraphicFramePr>
          <p:cNvPr id="148" name="Google Shape;148;p3"/>
          <p:cNvGraphicFramePr/>
          <p:nvPr/>
        </p:nvGraphicFramePr>
        <p:xfrm>
          <a:off x="7164288" y="2348880"/>
          <a:ext cx="1859625" cy="1483400"/>
        </p:xfrm>
        <a:graphic>
          <a:graphicData uri="http://schemas.openxmlformats.org/drawingml/2006/table">
            <a:tbl>
              <a:tblPr firstRow="1" bandRow="1">
                <a:noFill/>
                <a:tableStyleId>{8FB98FCB-1A25-4C5B-8617-F696F424DED2}</a:tableStyleId>
              </a:tblPr>
              <a:tblGrid>
                <a:gridCol w="1859625"/>
              </a:tblGrid>
              <a:tr h="370850">
                <a:tc>
                  <a:txBody>
                    <a:bodyPr/>
                    <a:lstStyle/>
                    <a:p>
                      <a:pPr marL="0" marR="0" lvl="0" indent="0" algn="l" rtl="0">
                        <a:spcBef>
                          <a:spcPts val="0"/>
                        </a:spcBef>
                        <a:spcAft>
                          <a:spcPts val="0"/>
                        </a:spcAft>
                        <a:buNone/>
                      </a:pPr>
                      <a:r>
                        <a:rPr lang="fr-FR" sz="1800">
                          <a:solidFill>
                            <a:srgbClr val="12239E"/>
                          </a:solidFill>
                        </a:rPr>
                        <a:t>Dépenses (Fact)</a:t>
                      </a:r>
                      <a:endParaRPr sz="1800">
                        <a:solidFill>
                          <a:srgbClr val="12239E"/>
                        </a:solidFill>
                      </a:endParaRPr>
                    </a:p>
                  </a:txBody>
                  <a:tcPr marL="91450" marR="91450" marT="45725" marB="45725">
                    <a:solidFill>
                      <a:srgbClr val="D9B300"/>
                    </a:solidFill>
                  </a:tcPr>
                </a:tc>
              </a:tr>
              <a:tr h="370850">
                <a:tc>
                  <a:txBody>
                    <a:bodyPr/>
                    <a:lstStyle/>
                    <a:p>
                      <a:pPr marL="0" marR="0" lvl="0" indent="0" algn="l" rtl="0">
                        <a:spcBef>
                          <a:spcPts val="0"/>
                        </a:spcBef>
                        <a:spcAft>
                          <a:spcPts val="0"/>
                        </a:spcAft>
                        <a:buNone/>
                      </a:pPr>
                      <a:r>
                        <a:rPr lang="fr-FR" sz="1400"/>
                        <a:t>Id_date</a:t>
                      </a:r>
                      <a:endParaRPr sz="1400"/>
                    </a:p>
                  </a:txBody>
                  <a:tcPr marL="91450" marR="91450" marT="45725" marB="45725"/>
                </a:tc>
              </a:tr>
              <a:tr h="370850">
                <a:tc>
                  <a:txBody>
                    <a:bodyPr/>
                    <a:lstStyle/>
                    <a:p>
                      <a:pPr marL="0" marR="0" lvl="0" indent="0" algn="l" rtl="0">
                        <a:spcBef>
                          <a:spcPts val="0"/>
                        </a:spcBef>
                        <a:spcAft>
                          <a:spcPts val="0"/>
                        </a:spcAft>
                        <a:buNone/>
                      </a:pPr>
                      <a:r>
                        <a:rPr lang="fr-FR" sz="1400"/>
                        <a:t>Id_agence</a:t>
                      </a:r>
                      <a:endParaRPr sz="1400"/>
                    </a:p>
                  </a:txBody>
                  <a:tcPr marL="91450" marR="91450" marT="45725" marB="45725"/>
                </a:tc>
              </a:tr>
              <a:tr h="370850">
                <a:tc>
                  <a:txBody>
                    <a:bodyPr/>
                    <a:lstStyle/>
                    <a:p>
                      <a:pPr marL="0" marR="0" lvl="0" indent="0" algn="l" rtl="0">
                        <a:spcBef>
                          <a:spcPts val="0"/>
                        </a:spcBef>
                        <a:spcAft>
                          <a:spcPts val="0"/>
                        </a:spcAft>
                        <a:buNone/>
                      </a:pPr>
                      <a:r>
                        <a:rPr lang="fr-FR" sz="1400"/>
                        <a:t>Id_categorie_depense</a:t>
                      </a:r>
                      <a:endParaRPr sz="1400"/>
                    </a:p>
                  </a:txBody>
                  <a:tcPr marL="91450" marR="91450" marT="45725" marB="45725"/>
                </a:tc>
              </a:tr>
            </a:tbl>
          </a:graphicData>
        </a:graphic>
      </p:graphicFrame>
      <p:graphicFrame>
        <p:nvGraphicFramePr>
          <p:cNvPr id="149" name="Google Shape;149;p3"/>
          <p:cNvGraphicFramePr/>
          <p:nvPr/>
        </p:nvGraphicFramePr>
        <p:xfrm>
          <a:off x="7164288" y="4147676"/>
          <a:ext cx="1859625" cy="1010940"/>
        </p:xfrm>
        <a:graphic>
          <a:graphicData uri="http://schemas.openxmlformats.org/drawingml/2006/table">
            <a:tbl>
              <a:tblPr firstRow="1" bandRow="1">
                <a:noFill/>
                <a:tableStyleId>{8FB98FCB-1A25-4C5B-8617-F696F424DED2}</a:tableStyleId>
              </a:tblPr>
              <a:tblGrid>
                <a:gridCol w="1859625"/>
              </a:tblGrid>
              <a:tr h="370850">
                <a:tc>
                  <a:txBody>
                    <a:bodyPr/>
                    <a:lstStyle/>
                    <a:p>
                      <a:pPr marL="0" marR="0" lvl="0" indent="0" algn="l" rtl="0">
                        <a:spcBef>
                          <a:spcPts val="0"/>
                        </a:spcBef>
                        <a:spcAft>
                          <a:spcPts val="0"/>
                        </a:spcAft>
                        <a:buNone/>
                      </a:pPr>
                      <a:r>
                        <a:rPr lang="fr-FR" sz="1800"/>
                        <a:t>Catégorie dépense (Dim.)</a:t>
                      </a:r>
                      <a:endParaRPr sz="1800"/>
                    </a:p>
                  </a:txBody>
                  <a:tcPr marL="91450" marR="91450" marT="45725" marB="45725">
                    <a:solidFill>
                      <a:srgbClr val="12239E"/>
                    </a:solidFill>
                  </a:tcPr>
                </a:tc>
              </a:tr>
              <a:tr h="370850">
                <a:tc>
                  <a:txBody>
                    <a:bodyPr/>
                    <a:lstStyle/>
                    <a:p>
                      <a:pPr marL="0" marR="0" lvl="0" indent="0" algn="l" rtl="0">
                        <a:spcBef>
                          <a:spcPts val="0"/>
                        </a:spcBef>
                        <a:spcAft>
                          <a:spcPts val="0"/>
                        </a:spcAft>
                        <a:buNone/>
                      </a:pPr>
                      <a:r>
                        <a:rPr lang="fr-FR" sz="1400"/>
                        <a:t>Id_agence</a:t>
                      </a:r>
                      <a:endParaRPr sz="1400"/>
                    </a:p>
                  </a:txBody>
                  <a:tcPr marL="91450" marR="91450" marT="45725" marB="45725"/>
                </a:tc>
              </a:tr>
            </a:tbl>
          </a:graphicData>
        </a:graphic>
      </p:graphicFrame>
      <p:cxnSp>
        <p:nvCxnSpPr>
          <p:cNvPr id="150" name="Google Shape;150;p3"/>
          <p:cNvCxnSpPr>
            <a:stCxn id="142" idx="3"/>
          </p:cNvCxnSpPr>
          <p:nvPr/>
        </p:nvCxnSpPr>
        <p:spPr>
          <a:xfrm>
            <a:off x="2039137" y="2710334"/>
            <a:ext cx="471413" cy="163866"/>
          </a:xfrm>
          <a:prstGeom prst="straightConnector1">
            <a:avLst/>
          </a:prstGeom>
          <a:noFill/>
          <a:ln w="38100" cap="flat" cmpd="sng">
            <a:solidFill>
              <a:srgbClr val="12239E"/>
            </a:solidFill>
            <a:prstDash val="solid"/>
            <a:round/>
            <a:headEnd type="oval" w="med" len="med"/>
            <a:tailEnd type="oval" w="med" len="med"/>
          </a:ln>
        </p:spPr>
      </p:cxnSp>
      <p:cxnSp>
        <p:nvCxnSpPr>
          <p:cNvPr id="151" name="Google Shape;151;p3"/>
          <p:cNvCxnSpPr>
            <a:stCxn id="144" idx="3"/>
          </p:cNvCxnSpPr>
          <p:nvPr/>
        </p:nvCxnSpPr>
        <p:spPr>
          <a:xfrm flipV="1">
            <a:off x="2039137" y="2874200"/>
            <a:ext cx="471413" cy="1048066"/>
          </a:xfrm>
          <a:prstGeom prst="straightConnector1">
            <a:avLst/>
          </a:prstGeom>
          <a:noFill/>
          <a:ln w="38100" cap="flat" cmpd="sng">
            <a:solidFill>
              <a:srgbClr val="12239E"/>
            </a:solidFill>
            <a:prstDash val="solid"/>
            <a:round/>
            <a:headEnd type="oval" w="med" len="med"/>
            <a:tailEnd type="oval" w="med" len="med"/>
          </a:ln>
        </p:spPr>
      </p:cxnSp>
      <p:cxnSp>
        <p:nvCxnSpPr>
          <p:cNvPr id="152" name="Google Shape;152;p3"/>
          <p:cNvCxnSpPr>
            <a:stCxn id="145" idx="3"/>
          </p:cNvCxnSpPr>
          <p:nvPr/>
        </p:nvCxnSpPr>
        <p:spPr>
          <a:xfrm flipV="1">
            <a:off x="2039137" y="2874200"/>
            <a:ext cx="457313" cy="2212398"/>
          </a:xfrm>
          <a:prstGeom prst="straightConnector1">
            <a:avLst/>
          </a:prstGeom>
          <a:noFill/>
          <a:ln w="38100" cap="flat" cmpd="sng">
            <a:solidFill>
              <a:srgbClr val="12239E"/>
            </a:solidFill>
            <a:prstDash val="solid"/>
            <a:round/>
            <a:headEnd type="oval" w="med" len="med"/>
            <a:tailEnd type="oval" w="med" len="med"/>
          </a:ln>
        </p:spPr>
      </p:cxnSp>
      <p:cxnSp>
        <p:nvCxnSpPr>
          <p:cNvPr id="153" name="Google Shape;153;p3"/>
          <p:cNvCxnSpPr>
            <a:stCxn id="146" idx="1"/>
          </p:cNvCxnSpPr>
          <p:nvPr/>
        </p:nvCxnSpPr>
        <p:spPr>
          <a:xfrm flipH="1">
            <a:off x="4310293" y="2719730"/>
            <a:ext cx="405723" cy="154470"/>
          </a:xfrm>
          <a:prstGeom prst="straightConnector1">
            <a:avLst/>
          </a:prstGeom>
          <a:noFill/>
          <a:ln w="38100" cap="flat" cmpd="sng">
            <a:solidFill>
              <a:srgbClr val="12239E"/>
            </a:solidFill>
            <a:prstDash val="solid"/>
            <a:round/>
            <a:headEnd type="oval" w="med" len="med"/>
            <a:tailEnd type="oval" w="med" len="med"/>
          </a:ln>
        </p:spPr>
      </p:cxnSp>
      <p:cxnSp>
        <p:nvCxnSpPr>
          <p:cNvPr id="154" name="Google Shape;154;p3"/>
          <p:cNvCxnSpPr>
            <a:stCxn id="147" idx="1"/>
          </p:cNvCxnSpPr>
          <p:nvPr/>
        </p:nvCxnSpPr>
        <p:spPr>
          <a:xfrm flipH="1" flipV="1">
            <a:off x="4310293" y="2860266"/>
            <a:ext cx="405723" cy="939584"/>
          </a:xfrm>
          <a:prstGeom prst="straightConnector1">
            <a:avLst/>
          </a:prstGeom>
          <a:noFill/>
          <a:ln w="38100" cap="flat" cmpd="sng">
            <a:solidFill>
              <a:srgbClr val="12239E"/>
            </a:solidFill>
            <a:prstDash val="solid"/>
            <a:round/>
            <a:headEnd type="oval" w="med" len="med"/>
            <a:tailEnd type="oval" w="med" len="med"/>
          </a:ln>
        </p:spPr>
      </p:cxnSp>
      <p:cxnSp>
        <p:nvCxnSpPr>
          <p:cNvPr id="155" name="Google Shape;155;p3"/>
          <p:cNvCxnSpPr>
            <a:stCxn id="146" idx="3"/>
          </p:cNvCxnSpPr>
          <p:nvPr/>
        </p:nvCxnSpPr>
        <p:spPr>
          <a:xfrm flipV="1">
            <a:off x="6575641" y="2710334"/>
            <a:ext cx="646184" cy="9396"/>
          </a:xfrm>
          <a:prstGeom prst="straightConnector1">
            <a:avLst/>
          </a:prstGeom>
          <a:noFill/>
          <a:ln w="38100" cap="flat" cmpd="sng">
            <a:solidFill>
              <a:srgbClr val="12239E"/>
            </a:solidFill>
            <a:prstDash val="solid"/>
            <a:round/>
            <a:headEnd type="oval" w="med" len="med"/>
            <a:tailEnd type="oval" w="med" len="med"/>
          </a:ln>
        </p:spPr>
      </p:cxnSp>
      <p:cxnSp>
        <p:nvCxnSpPr>
          <p:cNvPr id="156" name="Google Shape;156;p3"/>
          <p:cNvCxnSpPr>
            <a:stCxn id="147" idx="3"/>
          </p:cNvCxnSpPr>
          <p:nvPr/>
        </p:nvCxnSpPr>
        <p:spPr>
          <a:xfrm flipV="1">
            <a:off x="6575641" y="2719730"/>
            <a:ext cx="646184" cy="1080120"/>
          </a:xfrm>
          <a:prstGeom prst="straightConnector1">
            <a:avLst/>
          </a:prstGeom>
          <a:noFill/>
          <a:ln w="38100" cap="flat" cmpd="sng">
            <a:solidFill>
              <a:srgbClr val="12239E"/>
            </a:solidFill>
            <a:prstDash val="solid"/>
            <a:round/>
            <a:headEnd type="oval" w="med" len="med"/>
            <a:tailEnd type="oval" w="med" len="med"/>
          </a:ln>
        </p:spPr>
      </p:cxnSp>
      <p:cxnSp>
        <p:nvCxnSpPr>
          <p:cNvPr id="157" name="Google Shape;157;p3"/>
          <p:cNvCxnSpPr>
            <a:stCxn id="148" idx="2"/>
            <a:endCxn id="149" idx="0"/>
          </p:cNvCxnSpPr>
          <p:nvPr/>
        </p:nvCxnSpPr>
        <p:spPr>
          <a:xfrm>
            <a:off x="8094100" y="3832280"/>
            <a:ext cx="0" cy="315396"/>
          </a:xfrm>
          <a:prstGeom prst="straightConnector1">
            <a:avLst/>
          </a:prstGeom>
          <a:noFill/>
          <a:ln w="38100" cap="flat" cmpd="sng">
            <a:solidFill>
              <a:srgbClr val="12239E"/>
            </a:solidFill>
            <a:prstDash val="solid"/>
            <a:round/>
            <a:headEnd type="oval" w="med" len="med"/>
            <a:tailEnd type="oval" w="med" len="med"/>
          </a:ln>
        </p:spPr>
      </p:cxnSp>
      <p:sp>
        <p:nvSpPr>
          <p:cNvPr id="158" name="Google Shape;158;p3"/>
          <p:cNvSpPr/>
          <p:nvPr/>
        </p:nvSpPr>
        <p:spPr>
          <a:xfrm>
            <a:off x="-43867" y="1709519"/>
            <a:ext cx="921652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400" b="1">
                <a:solidFill>
                  <a:srgbClr val="D9B300"/>
                </a:solidFill>
                <a:latin typeface="Calibri"/>
                <a:ea typeface="Calibri"/>
                <a:cs typeface="Calibri"/>
                <a:sym typeface="Calibri"/>
              </a:rPr>
              <a:t>Schéma en « galaxie » / « Constellation » de faits</a:t>
            </a:r>
            <a:endParaRPr sz="2400">
              <a:solidFill>
                <a:srgbClr val="D9B3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4"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165" name="Google Shape;165;p4"/>
          <p:cNvSpPr/>
          <p:nvPr/>
        </p:nvSpPr>
        <p:spPr>
          <a:xfrm>
            <a:off x="4572000" y="6164493"/>
            <a:ext cx="4536000" cy="216024"/>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 name="Google Shape;166;p4"/>
          <p:cNvSpPr/>
          <p:nvPr/>
        </p:nvSpPr>
        <p:spPr>
          <a:xfrm>
            <a:off x="36000" y="6164493"/>
            <a:ext cx="4536000" cy="216024"/>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 name="Google Shape;167;p4"/>
          <p:cNvSpPr/>
          <p:nvPr/>
        </p:nvSpPr>
        <p:spPr>
          <a:xfrm>
            <a:off x="-36512" y="1124744"/>
            <a:ext cx="845116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3200" b="1">
                <a:solidFill>
                  <a:srgbClr val="12239E"/>
                </a:solidFill>
                <a:latin typeface="Calibri"/>
                <a:ea typeface="Calibri"/>
                <a:cs typeface="Calibri"/>
                <a:sym typeface="Calibri"/>
              </a:rPr>
              <a:t>Partie I – 3 : Alimentation du Datalake (dlbankia)</a:t>
            </a:r>
            <a:endParaRPr sz="3200">
              <a:solidFill>
                <a:srgbClr val="12239E"/>
              </a:solidFill>
              <a:latin typeface="Calibri"/>
              <a:ea typeface="Calibri"/>
              <a:cs typeface="Calibri"/>
              <a:sym typeface="Calibri"/>
            </a:endParaRPr>
          </a:p>
        </p:txBody>
      </p:sp>
      <p:sp>
        <p:nvSpPr>
          <p:cNvPr id="168" name="Google Shape;168;p4"/>
          <p:cNvSpPr/>
          <p:nvPr/>
        </p:nvSpPr>
        <p:spPr>
          <a:xfrm>
            <a:off x="7788408" y="6453377"/>
            <a:ext cx="13195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169" name="Google Shape;169;p4"/>
          <p:cNvSpPr txBox="1">
            <a:spLocks noGrp="1"/>
          </p:cNvSpPr>
          <p:nvPr>
            <p:ph type="sldNum" idx="12"/>
          </p:nvPr>
        </p:nvSpPr>
        <p:spPr>
          <a:xfrm>
            <a:off x="4572000" y="6448251"/>
            <a:ext cx="792088"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4</a:t>
            </a:fld>
            <a:endParaRPr sz="2400" b="1">
              <a:solidFill>
                <a:srgbClr val="D9B300"/>
              </a:solidFill>
            </a:endParaRPr>
          </a:p>
        </p:txBody>
      </p:sp>
      <p:sp>
        <p:nvSpPr>
          <p:cNvPr id="170" name="Google Shape;170;p4"/>
          <p:cNvSpPr txBox="1"/>
          <p:nvPr/>
        </p:nvSpPr>
        <p:spPr>
          <a:xfrm>
            <a:off x="3059394" y="6448251"/>
            <a:ext cx="1512606"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pic>
        <p:nvPicPr>
          <p:cNvPr id="171" name="Google Shape;171;p4"/>
          <p:cNvPicPr preferRelativeResize="0"/>
          <p:nvPr/>
        </p:nvPicPr>
        <p:blipFill rotWithShape="1">
          <a:blip r:embed="rId4">
            <a:alphaModFix/>
          </a:blip>
          <a:srcRect/>
          <a:stretch/>
        </p:blipFill>
        <p:spPr>
          <a:xfrm>
            <a:off x="63502" y="1725543"/>
            <a:ext cx="8977422" cy="3359642"/>
          </a:xfrm>
          <a:prstGeom prst="rect">
            <a:avLst/>
          </a:prstGeom>
          <a:noFill/>
          <a:ln w="9525" cap="flat" cmpd="sng">
            <a:solidFill>
              <a:srgbClr val="BFBFBF"/>
            </a:solidFill>
            <a:prstDash val="solid"/>
            <a:miter lim="800000"/>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5"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178" name="Google Shape;178;p5"/>
          <p:cNvSpPr/>
          <p:nvPr/>
        </p:nvSpPr>
        <p:spPr>
          <a:xfrm>
            <a:off x="4572000" y="6164493"/>
            <a:ext cx="4536000" cy="216024"/>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 name="Google Shape;179;p5"/>
          <p:cNvSpPr/>
          <p:nvPr/>
        </p:nvSpPr>
        <p:spPr>
          <a:xfrm>
            <a:off x="36000" y="6164493"/>
            <a:ext cx="4536000" cy="216024"/>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0" name="Google Shape;180;p5"/>
          <p:cNvSpPr/>
          <p:nvPr/>
        </p:nvSpPr>
        <p:spPr>
          <a:xfrm>
            <a:off x="231490" y="1911023"/>
            <a:ext cx="2324286" cy="16619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u="sng">
                <a:solidFill>
                  <a:srgbClr val="D9B300"/>
                </a:solidFill>
                <a:latin typeface="Calibri"/>
                <a:ea typeface="Calibri"/>
                <a:cs typeface="Calibri"/>
                <a:sym typeface="Calibri"/>
              </a:rPr>
              <a:t>Agences</a:t>
            </a:r>
            <a:endParaRPr sz="1800">
              <a:solidFill>
                <a:srgbClr val="D9B300"/>
              </a:solidFill>
              <a:latin typeface="Calibri"/>
              <a:ea typeface="Calibri"/>
              <a:cs typeface="Calibri"/>
              <a:sym typeface="Calibri"/>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CREATE TABLE ODS.agences </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id_agence        INT,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nom_agence   VARCHAR(50),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ville_agence    VARCHAR(50),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pays_agence   VARCHAR(50)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a:t>
            </a:r>
            <a:endParaRPr/>
          </a:p>
        </p:txBody>
      </p:sp>
      <p:sp>
        <p:nvSpPr>
          <p:cNvPr id="181" name="Google Shape;181;p5"/>
          <p:cNvSpPr/>
          <p:nvPr/>
        </p:nvSpPr>
        <p:spPr>
          <a:xfrm>
            <a:off x="-36512" y="1124744"/>
            <a:ext cx="924240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3200" b="1">
                <a:solidFill>
                  <a:srgbClr val="12239E"/>
                </a:solidFill>
                <a:latin typeface="Calibri"/>
                <a:ea typeface="Calibri"/>
                <a:cs typeface="Calibri"/>
                <a:sym typeface="Calibri"/>
              </a:rPr>
              <a:t>Partie I – 4 : Alimentation de l’Operational Data Store</a:t>
            </a:r>
            <a:endParaRPr sz="3200">
              <a:solidFill>
                <a:srgbClr val="12239E"/>
              </a:solidFill>
              <a:latin typeface="Calibri"/>
              <a:ea typeface="Calibri"/>
              <a:cs typeface="Calibri"/>
              <a:sym typeface="Calibri"/>
            </a:endParaRPr>
          </a:p>
        </p:txBody>
      </p:sp>
      <p:sp>
        <p:nvSpPr>
          <p:cNvPr id="182" name="Google Shape;182;p5"/>
          <p:cNvSpPr/>
          <p:nvPr/>
        </p:nvSpPr>
        <p:spPr>
          <a:xfrm>
            <a:off x="7788408" y="6453377"/>
            <a:ext cx="13195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183" name="Google Shape;183;p5"/>
          <p:cNvSpPr txBox="1">
            <a:spLocks noGrp="1"/>
          </p:cNvSpPr>
          <p:nvPr>
            <p:ph type="sldNum" idx="12"/>
          </p:nvPr>
        </p:nvSpPr>
        <p:spPr>
          <a:xfrm>
            <a:off x="4572000" y="6448251"/>
            <a:ext cx="792088"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5</a:t>
            </a:fld>
            <a:endParaRPr sz="2400" b="1">
              <a:solidFill>
                <a:srgbClr val="D9B300"/>
              </a:solidFill>
            </a:endParaRPr>
          </a:p>
        </p:txBody>
      </p:sp>
      <p:sp>
        <p:nvSpPr>
          <p:cNvPr id="184" name="Google Shape;184;p5"/>
          <p:cNvSpPr txBox="1"/>
          <p:nvPr/>
        </p:nvSpPr>
        <p:spPr>
          <a:xfrm>
            <a:off x="3110669" y="6448251"/>
            <a:ext cx="1461331"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sp>
        <p:nvSpPr>
          <p:cNvPr id="185" name="Google Shape;185;p5"/>
          <p:cNvSpPr/>
          <p:nvPr/>
        </p:nvSpPr>
        <p:spPr>
          <a:xfrm>
            <a:off x="132115" y="3645024"/>
            <a:ext cx="2324286" cy="24006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u="sng">
                <a:solidFill>
                  <a:srgbClr val="D9B300"/>
                </a:solidFill>
                <a:latin typeface="Calibri"/>
                <a:ea typeface="Calibri"/>
                <a:cs typeface="Calibri"/>
                <a:sym typeface="Calibri"/>
              </a:rPr>
              <a:t>Clients</a:t>
            </a:r>
            <a:endParaRPr sz="1800">
              <a:solidFill>
                <a:srgbClr val="D9B300"/>
              </a:solidFill>
              <a:latin typeface="Calibri"/>
              <a:ea typeface="Calibri"/>
              <a:cs typeface="Calibri"/>
              <a:sym typeface="Calibri"/>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CREATE TABLE ODS.clients </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id_client              INT,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nom_client         VARCHAR(50),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prenom_client   VARCHAR(50),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email                   VARCHAR(50),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telephone           VARCHAR(20),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ville_client          VARCHAR(50),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pays_client         VARCHAR(50),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segment_client  VARCHAR(50)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a:t>
            </a:r>
            <a:endParaRPr/>
          </a:p>
        </p:txBody>
      </p:sp>
      <p:sp>
        <p:nvSpPr>
          <p:cNvPr id="186" name="Google Shape;186;p5"/>
          <p:cNvSpPr/>
          <p:nvPr/>
        </p:nvSpPr>
        <p:spPr>
          <a:xfrm>
            <a:off x="3196272" y="1911023"/>
            <a:ext cx="2756334" cy="22159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u="sng">
                <a:solidFill>
                  <a:srgbClr val="D9B300"/>
                </a:solidFill>
                <a:latin typeface="Calibri"/>
                <a:ea typeface="Calibri"/>
                <a:cs typeface="Calibri"/>
                <a:sym typeface="Calibri"/>
              </a:rPr>
              <a:t>Transactions</a:t>
            </a:r>
            <a:endParaRPr sz="1800">
              <a:solidFill>
                <a:srgbClr val="D9B300"/>
              </a:solidFill>
              <a:latin typeface="Calibri"/>
              <a:ea typeface="Calibri"/>
              <a:cs typeface="Calibri"/>
              <a:sym typeface="Calibri"/>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CREATE TABLE ODS.transactions </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id_transaction              INT,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date_transaction         DATE,</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id_client                        INT,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id_produit                     INT,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type_transaction         VARCHAR(50),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montant_transaction  DECIMAL(10,2),</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id_agence                     INT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a:t>
            </a:r>
            <a:endParaRPr/>
          </a:p>
        </p:txBody>
      </p:sp>
      <p:sp>
        <p:nvSpPr>
          <p:cNvPr id="187" name="Google Shape;187;p5"/>
          <p:cNvSpPr/>
          <p:nvPr/>
        </p:nvSpPr>
        <p:spPr>
          <a:xfrm>
            <a:off x="3203848" y="4174629"/>
            <a:ext cx="2756334" cy="18466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u="sng">
                <a:solidFill>
                  <a:srgbClr val="D9B300"/>
                </a:solidFill>
                <a:latin typeface="Calibri"/>
                <a:ea typeface="Calibri"/>
                <a:cs typeface="Calibri"/>
                <a:sym typeface="Calibri"/>
              </a:rPr>
              <a:t>Produits_bancaires</a:t>
            </a:r>
            <a:endParaRPr sz="1800">
              <a:solidFill>
                <a:srgbClr val="D9B300"/>
              </a:solidFill>
              <a:latin typeface="Calibri"/>
              <a:ea typeface="Calibri"/>
              <a:cs typeface="Calibri"/>
              <a:sym typeface="Calibri"/>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CREATE TABLE ODS.produits_bancaires </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id_produit               INT,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nom_produit          VARCHAR(50),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categorie_produit  VARCHAR(50),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taux_interet            DECIMAL(5,2),</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frais_gestion           DECIMAL(5,2)</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a:t>
            </a:r>
            <a:endParaRPr/>
          </a:p>
        </p:txBody>
      </p:sp>
      <p:sp>
        <p:nvSpPr>
          <p:cNvPr id="188" name="Google Shape;188;p5"/>
          <p:cNvSpPr/>
          <p:nvPr/>
        </p:nvSpPr>
        <p:spPr>
          <a:xfrm>
            <a:off x="6351666" y="1911023"/>
            <a:ext cx="2756334" cy="18466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u="sng">
                <a:solidFill>
                  <a:srgbClr val="D9B300"/>
                </a:solidFill>
                <a:latin typeface="Calibri"/>
                <a:ea typeface="Calibri"/>
                <a:cs typeface="Calibri"/>
                <a:sym typeface="Calibri"/>
              </a:rPr>
              <a:t>Dépenses</a:t>
            </a:r>
            <a:endParaRPr sz="1800">
              <a:solidFill>
                <a:srgbClr val="D9B300"/>
              </a:solidFill>
              <a:latin typeface="Calibri"/>
              <a:ea typeface="Calibri"/>
              <a:cs typeface="Calibri"/>
              <a:sym typeface="Calibri"/>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CREATE TABLE ODS.depenses </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id_depense              INT,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date_depense          DATE,</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categorie_depense  VARCHAR(50),</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montant_depense   DECIMAL(10,2),</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id_agence                  INT</a:t>
            </a:r>
            <a:endParaRPr/>
          </a:p>
          <a:p>
            <a:pPr marL="0" marR="0" lvl="0" indent="0" algn="l" rtl="0">
              <a:spcBef>
                <a:spcPts val="0"/>
              </a:spcBef>
              <a:spcAft>
                <a:spcPts val="0"/>
              </a:spcAft>
              <a:buNone/>
            </a:pPr>
            <a:r>
              <a:rPr lang="fr-FR" sz="1200">
                <a:solidFill>
                  <a:srgbClr val="12239E"/>
                </a:solidFill>
                <a:latin typeface="Calibri"/>
                <a:ea typeface="Calibri"/>
                <a:cs typeface="Calibri"/>
                <a:sym typeface="Calibri"/>
              </a:rPr>
              <a:t>) ;</a:t>
            </a:r>
            <a:endParaRPr/>
          </a:p>
        </p:txBody>
      </p:sp>
      <p:pic>
        <p:nvPicPr>
          <p:cNvPr id="189" name="Google Shape;189;p5"/>
          <p:cNvPicPr preferRelativeResize="0"/>
          <p:nvPr/>
        </p:nvPicPr>
        <p:blipFill rotWithShape="1">
          <a:blip r:embed="rId4">
            <a:alphaModFix/>
          </a:blip>
          <a:srcRect/>
          <a:stretch/>
        </p:blipFill>
        <p:spPr>
          <a:xfrm>
            <a:off x="6354638" y="4005064"/>
            <a:ext cx="2609850" cy="1924050"/>
          </a:xfrm>
          <a:prstGeom prst="rect">
            <a:avLst/>
          </a:prstGeom>
          <a:noFill/>
          <a:ln w="9525" cap="flat" cmpd="sng">
            <a:solidFill>
              <a:srgbClr val="BFBFBF"/>
            </a:solidFill>
            <a:prstDash val="solid"/>
            <a:miter lim="800000"/>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6"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196" name="Google Shape;196;p6"/>
          <p:cNvSpPr/>
          <p:nvPr/>
        </p:nvSpPr>
        <p:spPr>
          <a:xfrm>
            <a:off x="4572000" y="6164493"/>
            <a:ext cx="4536000" cy="216024"/>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 name="Google Shape;197;p6"/>
          <p:cNvSpPr/>
          <p:nvPr/>
        </p:nvSpPr>
        <p:spPr>
          <a:xfrm>
            <a:off x="36000" y="6164493"/>
            <a:ext cx="4536000" cy="216024"/>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 name="Google Shape;198;p6"/>
          <p:cNvSpPr/>
          <p:nvPr/>
        </p:nvSpPr>
        <p:spPr>
          <a:xfrm>
            <a:off x="-36512" y="1124744"/>
            <a:ext cx="4614981"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3200" b="1">
                <a:solidFill>
                  <a:srgbClr val="12239E"/>
                </a:solidFill>
                <a:latin typeface="Calibri"/>
                <a:ea typeface="Calibri"/>
                <a:cs typeface="Calibri"/>
                <a:sym typeface="Calibri"/>
              </a:rPr>
              <a:t>Partie I – 5 : Alimentation </a:t>
            </a:r>
            <a:endParaRPr/>
          </a:p>
          <a:p>
            <a:pPr marL="0" marR="0" lvl="0" indent="0" algn="l" rtl="0">
              <a:spcBef>
                <a:spcPts val="0"/>
              </a:spcBef>
              <a:spcAft>
                <a:spcPts val="0"/>
              </a:spcAft>
              <a:buNone/>
            </a:pPr>
            <a:r>
              <a:rPr lang="fr-FR" sz="3200" b="1">
                <a:solidFill>
                  <a:srgbClr val="12239E"/>
                </a:solidFill>
                <a:latin typeface="Calibri"/>
                <a:ea typeface="Calibri"/>
                <a:cs typeface="Calibri"/>
                <a:sym typeface="Calibri"/>
              </a:rPr>
              <a:t>du Data warehouse</a:t>
            </a:r>
            <a:endParaRPr sz="3200">
              <a:solidFill>
                <a:srgbClr val="12239E"/>
              </a:solidFill>
              <a:latin typeface="Calibri"/>
              <a:ea typeface="Calibri"/>
              <a:cs typeface="Calibri"/>
              <a:sym typeface="Calibri"/>
            </a:endParaRPr>
          </a:p>
        </p:txBody>
      </p:sp>
      <p:sp>
        <p:nvSpPr>
          <p:cNvPr id="199" name="Google Shape;199;p6"/>
          <p:cNvSpPr/>
          <p:nvPr/>
        </p:nvSpPr>
        <p:spPr>
          <a:xfrm>
            <a:off x="7788408" y="6453377"/>
            <a:ext cx="13195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200" name="Google Shape;200;p6"/>
          <p:cNvSpPr txBox="1">
            <a:spLocks noGrp="1"/>
          </p:cNvSpPr>
          <p:nvPr>
            <p:ph type="sldNum" idx="12"/>
          </p:nvPr>
        </p:nvSpPr>
        <p:spPr>
          <a:xfrm>
            <a:off x="4572000" y="6448251"/>
            <a:ext cx="792088"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6</a:t>
            </a:fld>
            <a:endParaRPr sz="2400" b="1">
              <a:solidFill>
                <a:srgbClr val="D9B300"/>
              </a:solidFill>
            </a:endParaRPr>
          </a:p>
        </p:txBody>
      </p:sp>
      <p:sp>
        <p:nvSpPr>
          <p:cNvPr id="201" name="Google Shape;201;p6"/>
          <p:cNvSpPr txBox="1"/>
          <p:nvPr/>
        </p:nvSpPr>
        <p:spPr>
          <a:xfrm>
            <a:off x="3230310" y="6448251"/>
            <a:ext cx="134169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pic>
        <p:nvPicPr>
          <p:cNvPr id="202" name="Google Shape;202;p6"/>
          <p:cNvPicPr preferRelativeResize="0"/>
          <p:nvPr/>
        </p:nvPicPr>
        <p:blipFill rotWithShape="1">
          <a:blip r:embed="rId4">
            <a:alphaModFix/>
          </a:blip>
          <a:srcRect/>
          <a:stretch/>
        </p:blipFill>
        <p:spPr>
          <a:xfrm>
            <a:off x="5798765" y="332656"/>
            <a:ext cx="2301627" cy="2293607"/>
          </a:xfrm>
          <a:prstGeom prst="rect">
            <a:avLst/>
          </a:prstGeom>
          <a:noFill/>
          <a:ln w="9525" cap="flat" cmpd="sng">
            <a:solidFill>
              <a:srgbClr val="BFBFBF"/>
            </a:solidFill>
            <a:prstDash val="solid"/>
            <a:miter lim="800000"/>
            <a:headEnd type="none" w="sm" len="sm"/>
            <a:tailEnd type="none" w="sm" len="sm"/>
          </a:ln>
        </p:spPr>
      </p:pic>
      <p:pic>
        <p:nvPicPr>
          <p:cNvPr id="203" name="Google Shape;203;p6"/>
          <p:cNvPicPr preferRelativeResize="0"/>
          <p:nvPr/>
        </p:nvPicPr>
        <p:blipFill rotWithShape="1">
          <a:blip r:embed="rId5">
            <a:alphaModFix/>
          </a:blip>
          <a:srcRect/>
          <a:stretch/>
        </p:blipFill>
        <p:spPr>
          <a:xfrm>
            <a:off x="0" y="2996952"/>
            <a:ext cx="9144000" cy="2715249"/>
          </a:xfrm>
          <a:prstGeom prst="rect">
            <a:avLst/>
          </a:prstGeom>
          <a:noFill/>
          <a:ln w="9525" cap="flat" cmpd="sng">
            <a:solidFill>
              <a:srgbClr val="D8D8D8"/>
            </a:solidFill>
            <a:prstDash val="solid"/>
            <a:miter lim="800000"/>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7"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210" name="Google Shape;210;p7"/>
          <p:cNvSpPr/>
          <p:nvPr/>
        </p:nvSpPr>
        <p:spPr>
          <a:xfrm>
            <a:off x="4572000" y="6164493"/>
            <a:ext cx="4536000" cy="216024"/>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1" name="Google Shape;211;p7"/>
          <p:cNvSpPr/>
          <p:nvPr/>
        </p:nvSpPr>
        <p:spPr>
          <a:xfrm>
            <a:off x="36000" y="6164493"/>
            <a:ext cx="4536000" cy="216024"/>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2" name="Google Shape;212;p7"/>
          <p:cNvSpPr/>
          <p:nvPr/>
        </p:nvSpPr>
        <p:spPr>
          <a:xfrm>
            <a:off x="-20286" y="2348880"/>
            <a:ext cx="9164285" cy="3693319"/>
          </a:xfrm>
          <a:prstGeom prst="rect">
            <a:avLst/>
          </a:prstGeom>
          <a:solidFill>
            <a:srgbClr val="D8D8D8"/>
          </a:solidFill>
          <a:ln w="9525" cap="flat" cmpd="sng">
            <a:solidFill>
              <a:srgbClr val="12239E"/>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u="sng">
                <a:solidFill>
                  <a:srgbClr val="12239E"/>
                </a:solidFill>
                <a:latin typeface="Calibri"/>
                <a:ea typeface="Calibri"/>
                <a:cs typeface="Calibri"/>
                <a:sym typeface="Calibri"/>
              </a:rPr>
              <a:t>Limite de validité :</a:t>
            </a:r>
            <a:endParaRPr/>
          </a:p>
          <a:p>
            <a:pPr marL="0" marR="0" lvl="0" indent="0" algn="l" rtl="0">
              <a:spcBef>
                <a:spcPts val="0"/>
              </a:spcBef>
              <a:spcAft>
                <a:spcPts val="0"/>
              </a:spcAft>
              <a:buNone/>
            </a:pPr>
            <a:endParaRPr sz="1800">
              <a:solidFill>
                <a:srgbClr val="12239E"/>
              </a:solidFill>
              <a:latin typeface="Calibri"/>
              <a:ea typeface="Calibri"/>
              <a:cs typeface="Calibri"/>
              <a:sym typeface="Calibri"/>
            </a:endParaRPr>
          </a:p>
          <a:p>
            <a:pPr marL="0" marR="0" lvl="0" indent="0" algn="l" rtl="0">
              <a:spcBef>
                <a:spcPts val="0"/>
              </a:spcBef>
              <a:spcAft>
                <a:spcPts val="0"/>
              </a:spcAft>
              <a:buNone/>
            </a:pPr>
            <a:r>
              <a:rPr lang="fr-FR" sz="1800">
                <a:solidFill>
                  <a:srgbClr val="12239E"/>
                </a:solidFill>
                <a:latin typeface="Calibri"/>
                <a:ea typeface="Calibri"/>
                <a:cs typeface="Calibri"/>
                <a:sym typeface="Calibri"/>
              </a:rPr>
              <a:t>Les sources de données fournies sont évidemment parcellaires et illustratives.</a:t>
            </a:r>
            <a:endParaRPr/>
          </a:p>
          <a:p>
            <a:pPr marL="0" marR="0" lvl="0" indent="0" algn="l" rtl="0">
              <a:spcBef>
                <a:spcPts val="0"/>
              </a:spcBef>
              <a:spcAft>
                <a:spcPts val="0"/>
              </a:spcAft>
              <a:buNone/>
            </a:pPr>
            <a:endParaRPr sz="1800">
              <a:solidFill>
                <a:srgbClr val="12239E"/>
              </a:solidFill>
              <a:latin typeface="Calibri"/>
              <a:ea typeface="Calibri"/>
              <a:cs typeface="Calibri"/>
              <a:sym typeface="Calibri"/>
            </a:endParaRPr>
          </a:p>
          <a:p>
            <a:pPr marL="0" marR="0" lvl="0" indent="0" algn="l" rtl="0">
              <a:spcBef>
                <a:spcPts val="0"/>
              </a:spcBef>
              <a:spcAft>
                <a:spcPts val="0"/>
              </a:spcAft>
              <a:buNone/>
            </a:pPr>
            <a:r>
              <a:rPr lang="fr-FR" sz="1800">
                <a:solidFill>
                  <a:srgbClr val="12239E"/>
                </a:solidFill>
                <a:latin typeface="Calibri"/>
                <a:ea typeface="Calibri"/>
                <a:cs typeface="Calibri"/>
                <a:sym typeface="Calibri"/>
              </a:rPr>
              <a:t>Du point de vue de Bankia, les mouvements fournis dans « Transactions » semble relever du « Besoin en fond de roulement ». Tout comme les salaires ou le loyer dans « Depenses ». </a:t>
            </a:r>
            <a:endParaRPr/>
          </a:p>
          <a:p>
            <a:pPr marL="0" marR="0" lvl="0" indent="0" algn="l" rtl="0">
              <a:spcBef>
                <a:spcPts val="0"/>
              </a:spcBef>
              <a:spcAft>
                <a:spcPts val="0"/>
              </a:spcAft>
              <a:buNone/>
            </a:pPr>
            <a:endParaRPr sz="1800">
              <a:solidFill>
                <a:srgbClr val="12239E"/>
              </a:solidFill>
              <a:latin typeface="Calibri"/>
              <a:ea typeface="Calibri"/>
              <a:cs typeface="Calibri"/>
              <a:sym typeface="Calibri"/>
            </a:endParaRPr>
          </a:p>
          <a:p>
            <a:pPr marL="0" marR="0" lvl="0" indent="0" algn="l" rtl="0">
              <a:spcBef>
                <a:spcPts val="0"/>
              </a:spcBef>
              <a:spcAft>
                <a:spcPts val="0"/>
              </a:spcAft>
              <a:buNone/>
            </a:pPr>
            <a:r>
              <a:rPr lang="fr-FR" sz="1800">
                <a:solidFill>
                  <a:srgbClr val="12239E"/>
                </a:solidFill>
                <a:latin typeface="Calibri"/>
                <a:ea typeface="Calibri"/>
                <a:cs typeface="Calibri"/>
                <a:sym typeface="Calibri"/>
              </a:rPr>
              <a:t>Ainsi compris, cela ne permettrait pas de mettre en évidence une « marge nette » ou un « bénéfice global ».</a:t>
            </a:r>
            <a:endParaRPr sz="1800">
              <a:solidFill>
                <a:srgbClr val="12239E"/>
              </a:solidFill>
              <a:latin typeface="Calibri"/>
              <a:ea typeface="Calibri"/>
              <a:cs typeface="Calibri"/>
              <a:sym typeface="Calibri"/>
            </a:endParaRPr>
          </a:p>
          <a:p>
            <a:pPr marL="0" marR="0" lvl="0" indent="0" algn="l" rtl="0">
              <a:spcBef>
                <a:spcPts val="0"/>
              </a:spcBef>
              <a:spcAft>
                <a:spcPts val="0"/>
              </a:spcAft>
              <a:buNone/>
            </a:pPr>
            <a:endParaRPr sz="1800">
              <a:solidFill>
                <a:srgbClr val="12239E"/>
              </a:solidFill>
              <a:latin typeface="Calibri"/>
              <a:ea typeface="Calibri"/>
              <a:cs typeface="Calibri"/>
              <a:sym typeface="Calibri"/>
            </a:endParaRPr>
          </a:p>
          <a:p>
            <a:pPr marL="0" marR="0" lvl="0" indent="0" algn="l" rtl="0">
              <a:spcBef>
                <a:spcPts val="0"/>
              </a:spcBef>
              <a:spcAft>
                <a:spcPts val="0"/>
              </a:spcAft>
              <a:buNone/>
            </a:pPr>
            <a:r>
              <a:rPr lang="fr-FR" sz="1800">
                <a:solidFill>
                  <a:srgbClr val="12239E"/>
                </a:solidFill>
                <a:latin typeface="Calibri"/>
                <a:ea typeface="Calibri"/>
                <a:cs typeface="Calibri"/>
                <a:sym typeface="Calibri"/>
              </a:rPr>
              <a:t>Nous avons donc fait le choix didactique de considérer tous les montants des transactions comme des revenus.</a:t>
            </a:r>
            <a:endParaRPr sz="1800">
              <a:solidFill>
                <a:srgbClr val="12239E"/>
              </a:solidFill>
              <a:latin typeface="Calibri"/>
              <a:ea typeface="Calibri"/>
              <a:cs typeface="Calibri"/>
              <a:sym typeface="Calibri"/>
            </a:endParaRPr>
          </a:p>
          <a:p>
            <a:pPr marL="0" marR="0" lvl="0" indent="0" algn="l" rtl="0">
              <a:spcBef>
                <a:spcPts val="0"/>
              </a:spcBef>
              <a:spcAft>
                <a:spcPts val="0"/>
              </a:spcAft>
              <a:buNone/>
            </a:pPr>
            <a:endParaRPr sz="1800">
              <a:solidFill>
                <a:srgbClr val="12239E"/>
              </a:solidFill>
              <a:latin typeface="Calibri"/>
              <a:ea typeface="Calibri"/>
              <a:cs typeface="Calibri"/>
              <a:sym typeface="Calibri"/>
            </a:endParaRPr>
          </a:p>
        </p:txBody>
      </p:sp>
      <p:sp>
        <p:nvSpPr>
          <p:cNvPr id="213" name="Google Shape;213;p7"/>
          <p:cNvSpPr/>
          <p:nvPr/>
        </p:nvSpPr>
        <p:spPr>
          <a:xfrm>
            <a:off x="-36512" y="1124744"/>
            <a:ext cx="421621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3200" b="1">
                <a:solidFill>
                  <a:srgbClr val="12239E"/>
                </a:solidFill>
                <a:latin typeface="Calibri"/>
                <a:ea typeface="Calibri"/>
                <a:cs typeface="Calibri"/>
                <a:sym typeface="Calibri"/>
              </a:rPr>
              <a:t>Partie II : « Disclaimer »</a:t>
            </a:r>
            <a:endParaRPr sz="3200">
              <a:solidFill>
                <a:srgbClr val="12239E"/>
              </a:solidFill>
              <a:latin typeface="Calibri"/>
              <a:ea typeface="Calibri"/>
              <a:cs typeface="Calibri"/>
              <a:sym typeface="Calibri"/>
            </a:endParaRPr>
          </a:p>
        </p:txBody>
      </p:sp>
      <p:sp>
        <p:nvSpPr>
          <p:cNvPr id="214" name="Google Shape;214;p7"/>
          <p:cNvSpPr/>
          <p:nvPr/>
        </p:nvSpPr>
        <p:spPr>
          <a:xfrm>
            <a:off x="7788408" y="6453377"/>
            <a:ext cx="13195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215" name="Google Shape;215;p7"/>
          <p:cNvSpPr txBox="1">
            <a:spLocks noGrp="1"/>
          </p:cNvSpPr>
          <p:nvPr>
            <p:ph type="sldNum" idx="12"/>
          </p:nvPr>
        </p:nvSpPr>
        <p:spPr>
          <a:xfrm>
            <a:off x="4572000" y="6448251"/>
            <a:ext cx="792088"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7</a:t>
            </a:fld>
            <a:endParaRPr sz="2400" b="1">
              <a:solidFill>
                <a:srgbClr val="D9B300"/>
              </a:solidFill>
            </a:endParaRPr>
          </a:p>
        </p:txBody>
      </p:sp>
      <p:sp>
        <p:nvSpPr>
          <p:cNvPr id="216" name="Google Shape;216;p7"/>
          <p:cNvSpPr txBox="1"/>
          <p:nvPr/>
        </p:nvSpPr>
        <p:spPr>
          <a:xfrm>
            <a:off x="3170490" y="6448251"/>
            <a:ext cx="140151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pic>
        <p:nvPicPr>
          <p:cNvPr id="222" name="Google Shape;222;p8"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223" name="Google Shape;223;p8"/>
          <p:cNvSpPr/>
          <p:nvPr/>
        </p:nvSpPr>
        <p:spPr>
          <a:xfrm>
            <a:off x="4572000" y="6164493"/>
            <a:ext cx="4536000" cy="216024"/>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 name="Google Shape;224;p8"/>
          <p:cNvSpPr/>
          <p:nvPr/>
        </p:nvSpPr>
        <p:spPr>
          <a:xfrm>
            <a:off x="36000" y="6164493"/>
            <a:ext cx="4536000" cy="216024"/>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 name="Google Shape;225;p8"/>
          <p:cNvSpPr/>
          <p:nvPr/>
        </p:nvSpPr>
        <p:spPr>
          <a:xfrm>
            <a:off x="-20275" y="1709525"/>
            <a:ext cx="4403400" cy="4247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u="sng">
                <a:solidFill>
                  <a:srgbClr val="D9B300"/>
                </a:solidFill>
                <a:latin typeface="Calibri"/>
                <a:ea typeface="Calibri"/>
                <a:cs typeface="Calibri"/>
                <a:sym typeface="Calibri"/>
              </a:rPr>
              <a:t>Evolution dans le temps</a:t>
            </a:r>
            <a:endParaRPr sz="1800">
              <a:solidFill>
                <a:srgbClr val="D9B300"/>
              </a:solidFill>
              <a:latin typeface="Calibri"/>
              <a:ea typeface="Calibri"/>
              <a:cs typeface="Calibri"/>
              <a:sym typeface="Calibri"/>
            </a:endParaRPr>
          </a:p>
          <a:p>
            <a:pPr marL="0" marR="0" lvl="0" indent="0" algn="l" rtl="0">
              <a:spcBef>
                <a:spcPts val="0"/>
              </a:spcBef>
              <a:spcAft>
                <a:spcPts val="0"/>
              </a:spcAft>
              <a:buNone/>
            </a:pPr>
            <a:r>
              <a:rPr lang="fr-FR" sz="1600">
                <a:solidFill>
                  <a:srgbClr val="12239E"/>
                </a:solidFill>
                <a:latin typeface="Calibri"/>
                <a:ea typeface="Calibri"/>
                <a:cs typeface="Calibri"/>
                <a:sym typeface="Calibri"/>
              </a:rPr>
              <a:t>Des activités clients plus dynamique en période estivale et en fin d’année</a:t>
            </a:r>
            <a:endParaRPr sz="1600">
              <a:solidFill>
                <a:srgbClr val="12239E"/>
              </a:solidFill>
              <a:latin typeface="Calibri"/>
              <a:ea typeface="Calibri"/>
              <a:cs typeface="Calibri"/>
              <a:sym typeface="Calibri"/>
            </a:endParaRPr>
          </a:p>
          <a:p>
            <a:pPr marL="0" marR="0" lvl="0" indent="0" algn="l" rtl="0">
              <a:spcBef>
                <a:spcPts val="0"/>
              </a:spcBef>
              <a:spcAft>
                <a:spcPts val="0"/>
              </a:spcAft>
              <a:buNone/>
            </a:pPr>
            <a:endParaRPr sz="1800">
              <a:solidFill>
                <a:srgbClr val="12239E"/>
              </a:solidFill>
              <a:latin typeface="Calibri"/>
              <a:ea typeface="Calibri"/>
              <a:cs typeface="Calibri"/>
              <a:sym typeface="Calibri"/>
            </a:endParaRPr>
          </a:p>
          <a:p>
            <a:pPr marL="0" marR="0" lvl="0" indent="0" algn="l" rtl="0">
              <a:spcBef>
                <a:spcPts val="0"/>
              </a:spcBef>
              <a:spcAft>
                <a:spcPts val="0"/>
              </a:spcAft>
              <a:buNone/>
            </a:pPr>
            <a:r>
              <a:rPr lang="fr-FR" sz="1800" b="1" u="sng">
                <a:solidFill>
                  <a:srgbClr val="D9B300"/>
                </a:solidFill>
                <a:latin typeface="Calibri"/>
                <a:ea typeface="Calibri"/>
                <a:cs typeface="Calibri"/>
                <a:sym typeface="Calibri"/>
              </a:rPr>
              <a:t>Typologie des transactions</a:t>
            </a:r>
            <a:r>
              <a:rPr lang="fr-FR" sz="1800" b="1">
                <a:solidFill>
                  <a:srgbClr val="D9B300"/>
                </a:solidFill>
                <a:latin typeface="Calibri"/>
                <a:ea typeface="Calibri"/>
                <a:cs typeface="Calibri"/>
                <a:sym typeface="Calibri"/>
              </a:rPr>
              <a:t>:</a:t>
            </a:r>
            <a:endParaRPr sz="1800">
              <a:solidFill>
                <a:srgbClr val="D9B300"/>
              </a:solidFill>
              <a:latin typeface="Calibri"/>
              <a:ea typeface="Calibri"/>
              <a:cs typeface="Calibri"/>
              <a:sym typeface="Calibri"/>
            </a:endParaRPr>
          </a:p>
          <a:p>
            <a:pPr marL="457200" marR="0" lvl="0" indent="-330200" algn="l" rtl="0">
              <a:spcBef>
                <a:spcPts val="0"/>
              </a:spcBef>
              <a:spcAft>
                <a:spcPts val="0"/>
              </a:spcAft>
              <a:buClr>
                <a:srgbClr val="12239E"/>
              </a:buClr>
              <a:buSzPts val="1600"/>
              <a:buFont typeface="Calibri"/>
              <a:buChar char="●"/>
            </a:pPr>
            <a:r>
              <a:rPr lang="fr-FR" sz="1600">
                <a:solidFill>
                  <a:srgbClr val="12239E"/>
                </a:solidFill>
                <a:latin typeface="Calibri"/>
                <a:ea typeface="Calibri"/>
                <a:cs typeface="Calibri"/>
                <a:sym typeface="Calibri"/>
              </a:rPr>
              <a:t>Les retraits et virements concentrent les plus gros volumes financiers</a:t>
            </a:r>
            <a:endParaRPr sz="1600">
              <a:solidFill>
                <a:srgbClr val="12239E"/>
              </a:solidFill>
              <a:latin typeface="Calibri"/>
              <a:ea typeface="Calibri"/>
              <a:cs typeface="Calibri"/>
              <a:sym typeface="Calibri"/>
            </a:endParaRPr>
          </a:p>
          <a:p>
            <a:pPr marL="457200" marR="0" lvl="0" indent="-330200" algn="l" rtl="0">
              <a:spcBef>
                <a:spcPts val="0"/>
              </a:spcBef>
              <a:spcAft>
                <a:spcPts val="0"/>
              </a:spcAft>
              <a:buClr>
                <a:srgbClr val="12239E"/>
              </a:buClr>
              <a:buSzPts val="1600"/>
              <a:buFont typeface="Calibri"/>
              <a:buChar char="●"/>
            </a:pPr>
            <a:r>
              <a:rPr lang="fr-FR" sz="1600">
                <a:solidFill>
                  <a:srgbClr val="12239E"/>
                </a:solidFill>
                <a:latin typeface="Calibri"/>
                <a:ea typeface="Calibri"/>
                <a:cs typeface="Calibri"/>
                <a:sym typeface="Calibri"/>
              </a:rPr>
              <a:t>Les paiements par carte et les dépôts affichent des montants plus faibles mais réguliers.</a:t>
            </a:r>
            <a:endParaRPr sz="1600">
              <a:solidFill>
                <a:srgbClr val="12239E"/>
              </a:solidFill>
              <a:latin typeface="Calibri"/>
              <a:ea typeface="Calibri"/>
              <a:cs typeface="Calibri"/>
              <a:sym typeface="Calibri"/>
            </a:endParaRPr>
          </a:p>
          <a:p>
            <a:pPr marL="0" marR="0" lvl="0" indent="0" algn="l" rtl="0">
              <a:spcBef>
                <a:spcPts val="0"/>
              </a:spcBef>
              <a:spcAft>
                <a:spcPts val="0"/>
              </a:spcAft>
              <a:buNone/>
            </a:pPr>
            <a:endParaRPr>
              <a:solidFill>
                <a:srgbClr val="12239E"/>
              </a:solidFill>
              <a:latin typeface="Calibri"/>
              <a:ea typeface="Calibri"/>
              <a:cs typeface="Calibri"/>
              <a:sym typeface="Calibri"/>
            </a:endParaRPr>
          </a:p>
          <a:p>
            <a:pPr marL="0" lvl="0" indent="0" algn="l" rtl="0">
              <a:spcBef>
                <a:spcPts val="0"/>
              </a:spcBef>
              <a:spcAft>
                <a:spcPts val="0"/>
              </a:spcAft>
              <a:buNone/>
            </a:pPr>
            <a:r>
              <a:rPr lang="fr-FR" sz="1800" b="1" u="sng">
                <a:solidFill>
                  <a:srgbClr val="D9B300"/>
                </a:solidFill>
                <a:latin typeface="Calibri"/>
                <a:ea typeface="Calibri"/>
                <a:cs typeface="Calibri"/>
                <a:sym typeface="Calibri"/>
              </a:rPr>
              <a:t>Rentabilité clients</a:t>
            </a:r>
            <a:r>
              <a:rPr lang="fr-FR" sz="1800" b="1">
                <a:solidFill>
                  <a:srgbClr val="D9B300"/>
                </a:solidFill>
                <a:latin typeface="Calibri"/>
                <a:ea typeface="Calibri"/>
                <a:cs typeface="Calibri"/>
                <a:sym typeface="Calibri"/>
              </a:rPr>
              <a:t>:</a:t>
            </a:r>
            <a:endParaRPr sz="1800" b="1">
              <a:solidFill>
                <a:srgbClr val="D9B300"/>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fr-FR" sz="1600">
                <a:solidFill>
                  <a:srgbClr val="12239E"/>
                </a:solidFill>
                <a:latin typeface="Calibri"/>
                <a:ea typeface="Calibri"/>
                <a:cs typeface="Calibri"/>
                <a:sym typeface="Calibri"/>
              </a:rPr>
              <a:t>Les clients les plus rentables sont principalement issus des segments Entreprise et Particulier</a:t>
            </a:r>
            <a:endParaRPr sz="1800" b="1">
              <a:solidFill>
                <a:srgbClr val="D9B300"/>
              </a:solidFill>
              <a:latin typeface="Calibri"/>
              <a:ea typeface="Calibri"/>
              <a:cs typeface="Calibri"/>
              <a:sym typeface="Calibri"/>
            </a:endParaRPr>
          </a:p>
        </p:txBody>
      </p:sp>
      <p:sp>
        <p:nvSpPr>
          <p:cNvPr id="226" name="Google Shape;226;p8"/>
          <p:cNvSpPr/>
          <p:nvPr/>
        </p:nvSpPr>
        <p:spPr>
          <a:xfrm>
            <a:off x="-36512" y="1124744"/>
            <a:ext cx="85584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3200" b="1">
                <a:solidFill>
                  <a:srgbClr val="12239E"/>
                </a:solidFill>
                <a:latin typeface="Calibri"/>
                <a:ea typeface="Calibri"/>
                <a:cs typeface="Calibri"/>
                <a:sym typeface="Calibri"/>
              </a:rPr>
              <a:t>Partie II – 1 : Suivi des transactions</a:t>
            </a:r>
            <a:endParaRPr sz="3200">
              <a:solidFill>
                <a:srgbClr val="12239E"/>
              </a:solidFill>
              <a:latin typeface="Calibri"/>
              <a:ea typeface="Calibri"/>
              <a:cs typeface="Calibri"/>
              <a:sym typeface="Calibri"/>
            </a:endParaRPr>
          </a:p>
        </p:txBody>
      </p:sp>
      <p:sp>
        <p:nvSpPr>
          <p:cNvPr id="227" name="Google Shape;227;p8"/>
          <p:cNvSpPr/>
          <p:nvPr/>
        </p:nvSpPr>
        <p:spPr>
          <a:xfrm>
            <a:off x="7788408" y="6453377"/>
            <a:ext cx="13195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228" name="Google Shape;228;p8"/>
          <p:cNvSpPr txBox="1">
            <a:spLocks noGrp="1"/>
          </p:cNvSpPr>
          <p:nvPr>
            <p:ph type="sldNum" idx="12"/>
          </p:nvPr>
        </p:nvSpPr>
        <p:spPr>
          <a:xfrm>
            <a:off x="4572000" y="6448251"/>
            <a:ext cx="792088"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8</a:t>
            </a:fld>
            <a:endParaRPr sz="2400" b="1">
              <a:solidFill>
                <a:srgbClr val="D9B300"/>
              </a:solidFill>
            </a:endParaRPr>
          </a:p>
        </p:txBody>
      </p:sp>
      <p:sp>
        <p:nvSpPr>
          <p:cNvPr id="229" name="Google Shape;229;p8"/>
          <p:cNvSpPr txBox="1"/>
          <p:nvPr/>
        </p:nvSpPr>
        <p:spPr>
          <a:xfrm>
            <a:off x="3213219" y="6448251"/>
            <a:ext cx="1358781"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pic>
        <p:nvPicPr>
          <p:cNvPr id="230" name="Google Shape;230;p8"/>
          <p:cNvPicPr preferRelativeResize="0"/>
          <p:nvPr/>
        </p:nvPicPr>
        <p:blipFill rotWithShape="1">
          <a:blip r:embed="rId4">
            <a:alphaModFix/>
          </a:blip>
          <a:srcRect b="17170"/>
          <a:stretch/>
        </p:blipFill>
        <p:spPr>
          <a:xfrm>
            <a:off x="4383125" y="2442500"/>
            <a:ext cx="4476652" cy="229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9"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237" name="Google Shape;237;p9"/>
          <p:cNvSpPr/>
          <p:nvPr/>
        </p:nvSpPr>
        <p:spPr>
          <a:xfrm>
            <a:off x="4572000" y="6164493"/>
            <a:ext cx="4536000" cy="216024"/>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 name="Google Shape;238;p9"/>
          <p:cNvSpPr/>
          <p:nvPr/>
        </p:nvSpPr>
        <p:spPr>
          <a:xfrm>
            <a:off x="36000" y="6164493"/>
            <a:ext cx="4536000" cy="216024"/>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 name="Google Shape;239;p9"/>
          <p:cNvSpPr/>
          <p:nvPr/>
        </p:nvSpPr>
        <p:spPr>
          <a:xfrm>
            <a:off x="248375" y="1847925"/>
            <a:ext cx="4242300" cy="1898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u="sng">
                <a:solidFill>
                  <a:srgbClr val="D9B300"/>
                </a:solidFill>
                <a:latin typeface="Calibri"/>
                <a:ea typeface="Calibri"/>
                <a:cs typeface="Calibri"/>
                <a:sym typeface="Calibri"/>
              </a:rPr>
              <a:t>Revenus &amp; Charges</a:t>
            </a:r>
            <a:endParaRPr sz="1800">
              <a:solidFill>
                <a:srgbClr val="D9B300"/>
              </a:solidFill>
              <a:latin typeface="Calibri"/>
              <a:ea typeface="Calibri"/>
              <a:cs typeface="Calibri"/>
              <a:sym typeface="Calibri"/>
            </a:endParaRPr>
          </a:p>
          <a:p>
            <a:pPr marL="457200" marR="0" lvl="0" indent="-342900" algn="l" rtl="0">
              <a:spcBef>
                <a:spcPts val="0"/>
              </a:spcBef>
              <a:spcAft>
                <a:spcPts val="0"/>
              </a:spcAft>
              <a:buClr>
                <a:srgbClr val="12239E"/>
              </a:buClr>
              <a:buSzPts val="1800"/>
              <a:buFont typeface="Calibri"/>
              <a:buChar char="●"/>
            </a:pPr>
            <a:r>
              <a:rPr lang="fr-FR" sz="1800">
                <a:solidFill>
                  <a:srgbClr val="12239E"/>
                </a:solidFill>
                <a:latin typeface="Calibri"/>
                <a:ea typeface="Calibri"/>
                <a:cs typeface="Calibri"/>
                <a:sym typeface="Calibri"/>
              </a:rPr>
              <a:t>Le groupe bancaire est déficitaire.</a:t>
            </a:r>
            <a:endParaRPr sz="1800">
              <a:solidFill>
                <a:srgbClr val="12239E"/>
              </a:solidFill>
              <a:latin typeface="Calibri"/>
              <a:ea typeface="Calibri"/>
              <a:cs typeface="Calibri"/>
              <a:sym typeface="Calibri"/>
            </a:endParaRPr>
          </a:p>
          <a:p>
            <a:pPr marL="457200" marR="0" lvl="0" indent="-342900" algn="l" rtl="0">
              <a:spcBef>
                <a:spcPts val="0"/>
              </a:spcBef>
              <a:spcAft>
                <a:spcPts val="0"/>
              </a:spcAft>
              <a:buClr>
                <a:srgbClr val="12239E"/>
              </a:buClr>
              <a:buSzPts val="1800"/>
              <a:buFont typeface="Calibri"/>
              <a:buChar char="●"/>
            </a:pPr>
            <a:r>
              <a:rPr lang="fr-FR" sz="1800">
                <a:solidFill>
                  <a:srgbClr val="12239E"/>
                </a:solidFill>
                <a:latin typeface="Calibri"/>
                <a:ea typeface="Calibri"/>
                <a:cs typeface="Calibri"/>
                <a:sym typeface="Calibri"/>
              </a:rPr>
              <a:t>La répartition des produits est équilibrée mais côté dépenses, c’est le Marketing qui est le plus gros poste pour 39%.</a:t>
            </a:r>
            <a:endParaRPr sz="1800">
              <a:solidFill>
                <a:srgbClr val="12239E"/>
              </a:solidFill>
              <a:latin typeface="Calibri"/>
              <a:ea typeface="Calibri"/>
              <a:cs typeface="Calibri"/>
              <a:sym typeface="Calibri"/>
            </a:endParaRPr>
          </a:p>
          <a:p>
            <a:pPr marL="0" marR="0" lvl="0" indent="0" algn="l" rtl="0">
              <a:spcBef>
                <a:spcPts val="0"/>
              </a:spcBef>
              <a:spcAft>
                <a:spcPts val="0"/>
              </a:spcAft>
              <a:buNone/>
            </a:pPr>
            <a:endParaRPr sz="1800">
              <a:solidFill>
                <a:srgbClr val="12239E"/>
              </a:solidFill>
              <a:latin typeface="Calibri"/>
              <a:ea typeface="Calibri"/>
              <a:cs typeface="Calibri"/>
              <a:sym typeface="Calibri"/>
            </a:endParaRPr>
          </a:p>
        </p:txBody>
      </p:sp>
      <p:sp>
        <p:nvSpPr>
          <p:cNvPr id="240" name="Google Shape;240;p9"/>
          <p:cNvSpPr/>
          <p:nvPr/>
        </p:nvSpPr>
        <p:spPr>
          <a:xfrm>
            <a:off x="-36512" y="1124744"/>
            <a:ext cx="783233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3200" b="1">
                <a:solidFill>
                  <a:srgbClr val="12239E"/>
                </a:solidFill>
                <a:latin typeface="Calibri"/>
                <a:ea typeface="Calibri"/>
                <a:cs typeface="Calibri"/>
                <a:sym typeface="Calibri"/>
              </a:rPr>
              <a:t>Partie II – 2 : Analyse financière et rentabilité</a:t>
            </a:r>
            <a:endParaRPr sz="3200">
              <a:solidFill>
                <a:srgbClr val="12239E"/>
              </a:solidFill>
              <a:latin typeface="Calibri"/>
              <a:ea typeface="Calibri"/>
              <a:cs typeface="Calibri"/>
              <a:sym typeface="Calibri"/>
            </a:endParaRPr>
          </a:p>
        </p:txBody>
      </p:sp>
      <p:sp>
        <p:nvSpPr>
          <p:cNvPr id="241" name="Google Shape;241;p9"/>
          <p:cNvSpPr/>
          <p:nvPr/>
        </p:nvSpPr>
        <p:spPr>
          <a:xfrm>
            <a:off x="7788408" y="6453377"/>
            <a:ext cx="13195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242" name="Google Shape;242;p9"/>
          <p:cNvSpPr txBox="1">
            <a:spLocks noGrp="1"/>
          </p:cNvSpPr>
          <p:nvPr>
            <p:ph type="sldNum" idx="12"/>
          </p:nvPr>
        </p:nvSpPr>
        <p:spPr>
          <a:xfrm>
            <a:off x="4572000" y="6448251"/>
            <a:ext cx="792088"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9</a:t>
            </a:fld>
            <a:endParaRPr sz="2400" b="1">
              <a:solidFill>
                <a:srgbClr val="D9B300"/>
              </a:solidFill>
            </a:endParaRPr>
          </a:p>
        </p:txBody>
      </p:sp>
      <p:sp>
        <p:nvSpPr>
          <p:cNvPr id="243" name="Google Shape;243;p9"/>
          <p:cNvSpPr txBox="1"/>
          <p:nvPr/>
        </p:nvSpPr>
        <p:spPr>
          <a:xfrm>
            <a:off x="3419872" y="6448251"/>
            <a:ext cx="1152128"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pic>
        <p:nvPicPr>
          <p:cNvPr id="244" name="Google Shape;244;p9" title="Screenshot 2025-11-10 at 17.47.48.png"/>
          <p:cNvPicPr preferRelativeResize="0"/>
          <p:nvPr/>
        </p:nvPicPr>
        <p:blipFill>
          <a:blip r:embed="rId4">
            <a:alphaModFix/>
          </a:blip>
          <a:stretch>
            <a:fillRect/>
          </a:stretch>
        </p:blipFill>
        <p:spPr>
          <a:xfrm>
            <a:off x="4572013" y="1709525"/>
            <a:ext cx="4242226" cy="2076451"/>
          </a:xfrm>
          <a:prstGeom prst="rect">
            <a:avLst/>
          </a:prstGeom>
          <a:noFill/>
          <a:ln>
            <a:noFill/>
          </a:ln>
        </p:spPr>
      </p:pic>
      <p:pic>
        <p:nvPicPr>
          <p:cNvPr id="245" name="Google Shape;245;p9" title="Screenshot 2025-11-10 at 17.49.01.png"/>
          <p:cNvPicPr preferRelativeResize="0"/>
          <p:nvPr/>
        </p:nvPicPr>
        <p:blipFill>
          <a:blip r:embed="rId5">
            <a:alphaModFix/>
          </a:blip>
          <a:stretch>
            <a:fillRect/>
          </a:stretch>
        </p:blipFill>
        <p:spPr>
          <a:xfrm>
            <a:off x="136200" y="4045725"/>
            <a:ext cx="3929352" cy="1986800"/>
          </a:xfrm>
          <a:prstGeom prst="rect">
            <a:avLst/>
          </a:prstGeom>
          <a:noFill/>
          <a:ln>
            <a:noFill/>
          </a:ln>
        </p:spPr>
      </p:pic>
      <p:sp>
        <p:nvSpPr>
          <p:cNvPr id="246" name="Google Shape;246;p9"/>
          <p:cNvSpPr/>
          <p:nvPr/>
        </p:nvSpPr>
        <p:spPr>
          <a:xfrm>
            <a:off x="4571963" y="4111088"/>
            <a:ext cx="4242300" cy="1898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u="sng">
                <a:solidFill>
                  <a:srgbClr val="D9B300"/>
                </a:solidFill>
                <a:latin typeface="Calibri"/>
                <a:ea typeface="Calibri"/>
                <a:cs typeface="Calibri"/>
                <a:sym typeface="Calibri"/>
              </a:rPr>
              <a:t>Marge &amp; Agences</a:t>
            </a:r>
            <a:endParaRPr sz="1800">
              <a:solidFill>
                <a:srgbClr val="D9B300"/>
              </a:solidFill>
              <a:latin typeface="Calibri"/>
              <a:ea typeface="Calibri"/>
              <a:cs typeface="Calibri"/>
              <a:sym typeface="Calibri"/>
            </a:endParaRPr>
          </a:p>
          <a:p>
            <a:pPr marL="457200" marR="0" lvl="0" indent="-342900" algn="l" rtl="0">
              <a:spcBef>
                <a:spcPts val="0"/>
              </a:spcBef>
              <a:spcAft>
                <a:spcPts val="0"/>
              </a:spcAft>
              <a:buClr>
                <a:srgbClr val="12239E"/>
              </a:buClr>
              <a:buSzPts val="1800"/>
              <a:buFont typeface="Calibri"/>
              <a:buChar char="●"/>
            </a:pPr>
            <a:r>
              <a:rPr lang="fr-FR" sz="1800">
                <a:solidFill>
                  <a:srgbClr val="12239E"/>
                </a:solidFill>
                <a:latin typeface="Calibri"/>
                <a:ea typeface="Calibri"/>
                <a:cs typeface="Calibri"/>
                <a:sym typeface="Calibri"/>
              </a:rPr>
              <a:t>Seule la marge de Sousse est positive surtout du fait d’être l’agence la moins dépensière.</a:t>
            </a:r>
            <a:endParaRPr sz="1800">
              <a:solidFill>
                <a:srgbClr val="12239E"/>
              </a:solidFill>
              <a:latin typeface="Calibri"/>
              <a:ea typeface="Calibri"/>
              <a:cs typeface="Calibri"/>
              <a:sym typeface="Calibri"/>
            </a:endParaRPr>
          </a:p>
          <a:p>
            <a:pPr marL="457200" marR="0" lvl="0" indent="-342900" algn="l" rtl="0">
              <a:spcBef>
                <a:spcPts val="0"/>
              </a:spcBef>
              <a:spcAft>
                <a:spcPts val="0"/>
              </a:spcAft>
              <a:buClr>
                <a:srgbClr val="12239E"/>
              </a:buClr>
              <a:buSzPts val="1800"/>
              <a:buFont typeface="Calibri"/>
              <a:buChar char="●"/>
            </a:pPr>
            <a:r>
              <a:rPr lang="fr-FR" sz="1800">
                <a:solidFill>
                  <a:srgbClr val="12239E"/>
                </a:solidFill>
                <a:latin typeface="Calibri"/>
                <a:ea typeface="Calibri"/>
                <a:cs typeface="Calibri"/>
                <a:sym typeface="Calibri"/>
              </a:rPr>
              <a:t>Tunis a la marge déficitaire la plus forte</a:t>
            </a:r>
            <a:endParaRPr sz="1800">
              <a:solidFill>
                <a:srgbClr val="12239E"/>
              </a:solidFill>
              <a:latin typeface="Calibri"/>
              <a:ea typeface="Calibri"/>
              <a:cs typeface="Calibri"/>
              <a:sym typeface="Calibri"/>
            </a:endParaRPr>
          </a:p>
          <a:p>
            <a:pPr marL="0" marR="0" lvl="0" indent="0" algn="l" rtl="0">
              <a:spcBef>
                <a:spcPts val="0"/>
              </a:spcBef>
              <a:spcAft>
                <a:spcPts val="0"/>
              </a:spcAft>
              <a:buNone/>
            </a:pPr>
            <a:endParaRPr sz="1800">
              <a:solidFill>
                <a:srgbClr val="12239E"/>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52" name="Google Shape;252;g3a2096760fb_0_0"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253" name="Google Shape;253;g3a2096760fb_0_0"/>
          <p:cNvSpPr/>
          <p:nvPr/>
        </p:nvSpPr>
        <p:spPr>
          <a:xfrm>
            <a:off x="4572000" y="6164493"/>
            <a:ext cx="4536000" cy="216000"/>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4" name="Google Shape;254;g3a2096760fb_0_0"/>
          <p:cNvSpPr/>
          <p:nvPr/>
        </p:nvSpPr>
        <p:spPr>
          <a:xfrm>
            <a:off x="36000" y="6164493"/>
            <a:ext cx="4536000" cy="216000"/>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5" name="Google Shape;255;g3a2096760fb_0_0"/>
          <p:cNvSpPr/>
          <p:nvPr/>
        </p:nvSpPr>
        <p:spPr>
          <a:xfrm>
            <a:off x="-20275" y="1709523"/>
            <a:ext cx="9164400" cy="2754900"/>
          </a:xfrm>
          <a:prstGeom prst="rect">
            <a:avLst/>
          </a:prstGeom>
          <a:noFill/>
          <a:ln>
            <a:noFill/>
          </a:ln>
        </p:spPr>
        <p:txBody>
          <a:bodyPr spcFirstLastPara="1" wrap="square" lIns="91425" tIns="45700" rIns="91425" bIns="45700" anchor="t" anchorCtr="0">
            <a:noAutofit/>
          </a:bodyPr>
          <a:lstStyle/>
          <a:p>
            <a:pPr marL="457200" marR="0" lvl="0" indent="-342900" algn="l" rtl="0">
              <a:spcBef>
                <a:spcPts val="0"/>
              </a:spcBef>
              <a:spcAft>
                <a:spcPts val="0"/>
              </a:spcAft>
              <a:buClr>
                <a:srgbClr val="D9B300"/>
              </a:buClr>
              <a:buSzPts val="1800"/>
              <a:buFont typeface="Calibri"/>
              <a:buAutoNum type="arabicPeriod"/>
            </a:pPr>
            <a:r>
              <a:rPr lang="fr-FR" sz="1800" b="1" u="sng">
                <a:solidFill>
                  <a:srgbClr val="D9B300"/>
                </a:solidFill>
                <a:latin typeface="Calibri"/>
                <a:ea typeface="Calibri"/>
                <a:cs typeface="Calibri"/>
                <a:sym typeface="Calibri"/>
              </a:rPr>
              <a:t>Analyse prédictive des défauts de paiement sur les crédits</a:t>
            </a:r>
            <a:r>
              <a:rPr lang="fr-FR" sz="1800" b="1">
                <a:solidFill>
                  <a:srgbClr val="D9B300"/>
                </a:solidFill>
                <a:latin typeface="Calibri"/>
                <a:ea typeface="Calibri"/>
                <a:cs typeface="Calibri"/>
                <a:sym typeface="Calibri"/>
              </a:rPr>
              <a:t> :</a:t>
            </a:r>
            <a:endParaRPr sz="1800" b="1">
              <a:solidFill>
                <a:srgbClr val="D9B300"/>
              </a:solidFill>
              <a:latin typeface="Calibri"/>
              <a:ea typeface="Calibri"/>
              <a:cs typeface="Calibri"/>
              <a:sym typeface="Calibri"/>
            </a:endParaRPr>
          </a:p>
          <a:p>
            <a:pPr marL="0" marR="0" lvl="0" indent="0" algn="l" rtl="0">
              <a:spcBef>
                <a:spcPts val="0"/>
              </a:spcBef>
              <a:spcAft>
                <a:spcPts val="0"/>
              </a:spcAft>
              <a:buNone/>
            </a:pPr>
            <a:endParaRPr sz="1800" b="1">
              <a:solidFill>
                <a:srgbClr val="D9B3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fr-FR" sz="1800">
                <a:solidFill>
                  <a:schemeClr val="dk2"/>
                </a:solidFill>
                <a:latin typeface="Calibri"/>
                <a:ea typeface="Calibri"/>
                <a:cs typeface="Calibri"/>
                <a:sym typeface="Calibri"/>
              </a:rPr>
              <a:t>L’objectif de cette première partie est de prévoir les risques de défaut de paiement de crédit chez les clients de la banque, en s’appuyant sur les données de transactions et de profils clients.</a:t>
            </a:r>
            <a:endParaRPr sz="1800">
              <a:solidFill>
                <a:schemeClr val="dk2"/>
              </a:solidFill>
              <a:latin typeface="Calibri"/>
              <a:ea typeface="Calibri"/>
              <a:cs typeface="Calibri"/>
              <a:sym typeface="Calibri"/>
            </a:endParaRPr>
          </a:p>
          <a:p>
            <a:pPr marL="0" marR="0" lvl="0" indent="0" algn="l" rtl="0">
              <a:spcBef>
                <a:spcPts val="0"/>
              </a:spcBef>
              <a:spcAft>
                <a:spcPts val="0"/>
              </a:spcAft>
              <a:buNone/>
            </a:pPr>
            <a:r>
              <a:rPr lang="fr-FR" sz="1800">
                <a:solidFill>
                  <a:schemeClr val="dk2"/>
                </a:solidFill>
                <a:latin typeface="Calibri"/>
                <a:ea typeface="Calibri"/>
                <a:cs typeface="Calibri"/>
                <a:sym typeface="Calibri"/>
              </a:rPr>
              <a:t>Cette analyse prédictive permet d’identifier les clients à risque, d’anticiper les impayés et d’améliorer la gestion du portefeuille client.</a:t>
            </a:r>
            <a:endParaRPr sz="1800">
              <a:solidFill>
                <a:schemeClr val="dk2"/>
              </a:solidFill>
              <a:latin typeface="Calibri"/>
              <a:ea typeface="Calibri"/>
              <a:cs typeface="Calibri"/>
              <a:sym typeface="Calibri"/>
            </a:endParaRPr>
          </a:p>
          <a:p>
            <a:pPr marL="0" marR="0" lvl="0" indent="0" algn="l" rtl="0">
              <a:spcBef>
                <a:spcPts val="0"/>
              </a:spcBef>
              <a:spcAft>
                <a:spcPts val="0"/>
              </a:spcAft>
              <a:buNone/>
            </a:pPr>
            <a:endParaRPr sz="1800">
              <a:solidFill>
                <a:schemeClr val="dk2"/>
              </a:solidFill>
              <a:latin typeface="Calibri"/>
              <a:ea typeface="Calibri"/>
              <a:cs typeface="Calibri"/>
              <a:sym typeface="Calibri"/>
            </a:endParaRPr>
          </a:p>
          <a:p>
            <a:pPr marL="0" marR="0" lvl="0" indent="0" algn="l" rtl="0">
              <a:spcBef>
                <a:spcPts val="0"/>
              </a:spcBef>
              <a:spcAft>
                <a:spcPts val="0"/>
              </a:spcAft>
              <a:buNone/>
            </a:pPr>
            <a:r>
              <a:rPr lang="fr-FR" sz="1800">
                <a:solidFill>
                  <a:schemeClr val="dk2"/>
                </a:solidFill>
                <a:latin typeface="Calibri"/>
                <a:ea typeface="Calibri"/>
                <a:cs typeface="Calibri"/>
                <a:sym typeface="Calibri"/>
              </a:rPr>
              <a:t>Pour faire ceci, nous avons créé des nouvelles mesures et une nouvelle table.</a:t>
            </a:r>
            <a:endParaRPr sz="1800">
              <a:solidFill>
                <a:schemeClr val="dk2"/>
              </a:solidFill>
              <a:latin typeface="Calibri"/>
              <a:ea typeface="Calibri"/>
              <a:cs typeface="Calibri"/>
              <a:sym typeface="Calibri"/>
            </a:endParaRPr>
          </a:p>
          <a:p>
            <a:pPr marL="0" marR="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256" name="Google Shape;256;g3a2096760fb_0_0"/>
          <p:cNvSpPr/>
          <p:nvPr/>
        </p:nvSpPr>
        <p:spPr>
          <a:xfrm>
            <a:off x="-20275" y="1124825"/>
            <a:ext cx="8687700" cy="584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fr-FR" sz="3200" b="1">
                <a:solidFill>
                  <a:srgbClr val="12239E"/>
                </a:solidFill>
                <a:latin typeface="Calibri"/>
                <a:ea typeface="Calibri"/>
                <a:cs typeface="Calibri"/>
                <a:sym typeface="Calibri"/>
              </a:rPr>
              <a:t>Partie II – 3 : Analyse complémentaire (BONUS)</a:t>
            </a:r>
            <a:endParaRPr sz="3200">
              <a:solidFill>
                <a:srgbClr val="12239E"/>
              </a:solidFill>
              <a:latin typeface="Calibri"/>
              <a:ea typeface="Calibri"/>
              <a:cs typeface="Calibri"/>
              <a:sym typeface="Calibri"/>
            </a:endParaRPr>
          </a:p>
        </p:txBody>
      </p:sp>
      <p:sp>
        <p:nvSpPr>
          <p:cNvPr id="257" name="Google Shape;257;g3a2096760fb_0_0"/>
          <p:cNvSpPr/>
          <p:nvPr/>
        </p:nvSpPr>
        <p:spPr>
          <a:xfrm>
            <a:off x="7788408" y="6453377"/>
            <a:ext cx="13197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258" name="Google Shape;258;g3a2096760fb_0_0"/>
          <p:cNvSpPr txBox="1">
            <a:spLocks noGrp="1"/>
          </p:cNvSpPr>
          <p:nvPr>
            <p:ph type="sldNum" idx="12"/>
          </p:nvPr>
        </p:nvSpPr>
        <p:spPr>
          <a:xfrm>
            <a:off x="4572000" y="6448251"/>
            <a:ext cx="792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10</a:t>
            </a:fld>
            <a:endParaRPr sz="2400" b="1">
              <a:solidFill>
                <a:srgbClr val="D9B300"/>
              </a:solidFill>
            </a:endParaRPr>
          </a:p>
        </p:txBody>
      </p:sp>
      <p:sp>
        <p:nvSpPr>
          <p:cNvPr id="259" name="Google Shape;259;g3a2096760fb_0_0"/>
          <p:cNvSpPr txBox="1"/>
          <p:nvPr/>
        </p:nvSpPr>
        <p:spPr>
          <a:xfrm>
            <a:off x="3349951" y="6448251"/>
            <a:ext cx="1221961"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65" name="Google Shape;265;g3a2096760fb_0_14"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266" name="Google Shape;266;g3a2096760fb_0_14"/>
          <p:cNvSpPr/>
          <p:nvPr/>
        </p:nvSpPr>
        <p:spPr>
          <a:xfrm>
            <a:off x="4572000" y="6164493"/>
            <a:ext cx="4536000" cy="216000"/>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 name="Google Shape;267;g3a2096760fb_0_14"/>
          <p:cNvSpPr/>
          <p:nvPr/>
        </p:nvSpPr>
        <p:spPr>
          <a:xfrm>
            <a:off x="36000" y="6164493"/>
            <a:ext cx="4536000" cy="216000"/>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8" name="Google Shape;268;g3a2096760fb_0_14"/>
          <p:cNvSpPr/>
          <p:nvPr/>
        </p:nvSpPr>
        <p:spPr>
          <a:xfrm>
            <a:off x="241875" y="1305300"/>
            <a:ext cx="4536000" cy="4697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solidFill>
                  <a:schemeClr val="dk2"/>
                </a:solidFill>
                <a:latin typeface="Calibri"/>
                <a:ea typeface="Calibri"/>
                <a:cs typeface="Calibri"/>
                <a:sym typeface="Calibri"/>
              </a:rPr>
              <a:t>Dans </a:t>
            </a:r>
            <a:r>
              <a:rPr lang="fr-FR" b="1">
                <a:solidFill>
                  <a:schemeClr val="dk2"/>
                </a:solidFill>
                <a:latin typeface="Calibri"/>
                <a:ea typeface="Calibri"/>
                <a:cs typeface="Calibri"/>
                <a:sym typeface="Calibri"/>
              </a:rPr>
              <a:t>‘DWH fact_transactions’</a:t>
            </a:r>
            <a:r>
              <a:rPr lang="fr-FR">
                <a:solidFill>
                  <a:schemeClr val="dk2"/>
                </a:solidFill>
                <a:latin typeface="Calibri"/>
                <a:ea typeface="Calibri"/>
                <a:cs typeface="Calibri"/>
                <a:sym typeface="Calibri"/>
              </a:rPr>
              <a:t> qui contient l’ensemble des transactions réalisées par les clients, nous avons créé 3 variables clés :</a:t>
            </a:r>
            <a:endParaRPr>
              <a:solidFill>
                <a:schemeClr val="dk2"/>
              </a:solidFill>
              <a:latin typeface="Calibri"/>
              <a:ea typeface="Calibri"/>
              <a:cs typeface="Calibri"/>
              <a:sym typeface="Calibri"/>
            </a:endParaRPr>
          </a:p>
          <a:p>
            <a:pPr marL="0" lvl="0" indent="0" algn="l" rtl="0">
              <a:spcBef>
                <a:spcPts val="0"/>
              </a:spcBef>
              <a:spcAft>
                <a:spcPts val="0"/>
              </a:spcAft>
              <a:buClr>
                <a:schemeClr val="dk1"/>
              </a:buClr>
              <a:buFont typeface="Arial"/>
              <a:buNone/>
            </a:pPr>
            <a:endParaRPr>
              <a:solidFill>
                <a:schemeClr val="dk2"/>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fr-FR" b="1">
                <a:solidFill>
                  <a:schemeClr val="dk2"/>
                </a:solidFill>
                <a:latin typeface="Calibri"/>
                <a:ea typeface="Calibri"/>
                <a:cs typeface="Calibri"/>
                <a:sym typeface="Calibri"/>
              </a:rPr>
              <a:t>Montant_Total_Client</a:t>
            </a:r>
            <a:r>
              <a:rPr lang="fr-FR">
                <a:solidFill>
                  <a:schemeClr val="dk2"/>
                </a:solidFill>
                <a:latin typeface="Calibri"/>
                <a:ea typeface="Calibri"/>
                <a:cs typeface="Calibri"/>
                <a:sym typeface="Calibri"/>
              </a:rPr>
              <a:t> → total des opérations effectuées.</a:t>
            </a:r>
            <a:endParaRPr>
              <a:solidFill>
                <a:schemeClr val="dk2"/>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fr-FR" b="1">
                <a:solidFill>
                  <a:schemeClr val="dk2"/>
                </a:solidFill>
                <a:latin typeface="Calibri"/>
                <a:ea typeface="Calibri"/>
                <a:cs typeface="Calibri"/>
                <a:sym typeface="Calibri"/>
              </a:rPr>
              <a:t>Nb_Transactions_Client</a:t>
            </a:r>
            <a:r>
              <a:rPr lang="fr-FR">
                <a:solidFill>
                  <a:schemeClr val="dk2"/>
                </a:solidFill>
                <a:latin typeface="Calibri"/>
                <a:ea typeface="Calibri"/>
                <a:cs typeface="Calibri"/>
                <a:sym typeface="Calibri"/>
              </a:rPr>
              <a:t> → nombre total de transactions.</a:t>
            </a:r>
            <a:endParaRPr>
              <a:solidFill>
                <a:schemeClr val="dk2"/>
              </a:solidFill>
              <a:latin typeface="Calibri"/>
              <a:ea typeface="Calibri"/>
              <a:cs typeface="Calibri"/>
              <a:sym typeface="Calibri"/>
            </a:endParaRPr>
          </a:p>
          <a:p>
            <a:pPr marL="0" lvl="0" indent="0" algn="l" rtl="0">
              <a:spcBef>
                <a:spcPts val="0"/>
              </a:spcBef>
              <a:spcAft>
                <a:spcPts val="0"/>
              </a:spcAft>
              <a:buNone/>
            </a:pPr>
            <a:r>
              <a:rPr lang="fr-FR" b="1">
                <a:solidFill>
                  <a:schemeClr val="dk2"/>
                </a:solidFill>
                <a:latin typeface="Calibri"/>
                <a:ea typeface="Calibri"/>
                <a:cs typeface="Calibri"/>
                <a:sym typeface="Calibri"/>
              </a:rPr>
              <a:t>Derniere_Transaction</a:t>
            </a:r>
            <a:r>
              <a:rPr lang="fr-FR">
                <a:solidFill>
                  <a:schemeClr val="dk2"/>
                </a:solidFill>
                <a:latin typeface="Calibri"/>
                <a:ea typeface="Calibri"/>
                <a:cs typeface="Calibri"/>
                <a:sym typeface="Calibri"/>
              </a:rPr>
              <a:t> → date de la dernière activité.</a:t>
            </a:r>
            <a:endParaRPr>
              <a:solidFill>
                <a:schemeClr val="dk2"/>
              </a:solidFill>
              <a:latin typeface="Calibri"/>
              <a:ea typeface="Calibri"/>
              <a:cs typeface="Calibri"/>
              <a:sym typeface="Calibri"/>
            </a:endParaRPr>
          </a:p>
          <a:p>
            <a:pPr marL="0" lvl="0" indent="0" algn="l" rtl="0">
              <a:spcBef>
                <a:spcPts val="0"/>
              </a:spcBef>
              <a:spcAft>
                <a:spcPts val="0"/>
              </a:spcAft>
              <a:buClr>
                <a:schemeClr val="dk1"/>
              </a:buClr>
              <a:buFont typeface="Arial"/>
              <a:buNone/>
            </a:pPr>
            <a:endParaRPr>
              <a:solidFill>
                <a:schemeClr val="dk2"/>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fr-FR">
                <a:solidFill>
                  <a:schemeClr val="dk2"/>
                </a:solidFill>
                <a:latin typeface="Calibri"/>
                <a:ea typeface="Calibri"/>
                <a:cs typeface="Calibri"/>
                <a:sym typeface="Calibri"/>
              </a:rPr>
              <a:t>Cette table sert à mesurer l’activité et le comportement financier du client.</a:t>
            </a:r>
            <a:endParaRPr>
              <a:solidFill>
                <a:schemeClr val="dk2"/>
              </a:solidFill>
              <a:latin typeface="Calibri"/>
              <a:ea typeface="Calibri"/>
              <a:cs typeface="Calibri"/>
              <a:sym typeface="Calibri"/>
            </a:endParaRPr>
          </a:p>
        </p:txBody>
      </p:sp>
      <p:sp>
        <p:nvSpPr>
          <p:cNvPr id="269" name="Google Shape;269;g3a2096760fb_0_14"/>
          <p:cNvSpPr/>
          <p:nvPr/>
        </p:nvSpPr>
        <p:spPr>
          <a:xfrm>
            <a:off x="7788408" y="6453377"/>
            <a:ext cx="13197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270" name="Google Shape;270;g3a2096760fb_0_14"/>
          <p:cNvSpPr txBox="1">
            <a:spLocks noGrp="1"/>
          </p:cNvSpPr>
          <p:nvPr>
            <p:ph type="sldNum" idx="12"/>
          </p:nvPr>
        </p:nvSpPr>
        <p:spPr>
          <a:xfrm>
            <a:off x="4572000" y="6448251"/>
            <a:ext cx="792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11</a:t>
            </a:fld>
            <a:endParaRPr sz="2400" b="1">
              <a:solidFill>
                <a:srgbClr val="D9B300"/>
              </a:solidFill>
            </a:endParaRPr>
          </a:p>
        </p:txBody>
      </p:sp>
      <p:sp>
        <p:nvSpPr>
          <p:cNvPr id="271" name="Google Shape;271;g3a2096760fb_0_14"/>
          <p:cNvSpPr txBox="1"/>
          <p:nvPr/>
        </p:nvSpPr>
        <p:spPr>
          <a:xfrm>
            <a:off x="3419872" y="6448251"/>
            <a:ext cx="115204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pic>
        <p:nvPicPr>
          <p:cNvPr id="272" name="Google Shape;272;g3a2096760fb_0_14"/>
          <p:cNvPicPr preferRelativeResize="0"/>
          <p:nvPr/>
        </p:nvPicPr>
        <p:blipFill>
          <a:blip r:embed="rId4">
            <a:alphaModFix/>
          </a:blip>
          <a:stretch>
            <a:fillRect/>
          </a:stretch>
        </p:blipFill>
        <p:spPr>
          <a:xfrm>
            <a:off x="5302650" y="1305425"/>
            <a:ext cx="3442875" cy="4545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78" name="Google Shape;278;g3a2096760fb_0_33"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279" name="Google Shape;279;g3a2096760fb_0_33"/>
          <p:cNvSpPr/>
          <p:nvPr/>
        </p:nvSpPr>
        <p:spPr>
          <a:xfrm>
            <a:off x="4572000" y="6164493"/>
            <a:ext cx="4536000" cy="216000"/>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0" name="Google Shape;280;g3a2096760fb_0_33"/>
          <p:cNvSpPr/>
          <p:nvPr/>
        </p:nvSpPr>
        <p:spPr>
          <a:xfrm>
            <a:off x="36000" y="6164493"/>
            <a:ext cx="4536000" cy="216000"/>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 name="Google Shape;281;g3a2096760fb_0_33"/>
          <p:cNvSpPr/>
          <p:nvPr/>
        </p:nvSpPr>
        <p:spPr>
          <a:xfrm>
            <a:off x="241875" y="1150900"/>
            <a:ext cx="5294700" cy="4874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SzPts val="1100"/>
              <a:buNone/>
            </a:pPr>
            <a:r>
              <a:rPr lang="fr-FR" sz="1100" b="1">
                <a:solidFill>
                  <a:schemeClr val="dk2"/>
                </a:solidFill>
                <a:latin typeface="Calibri"/>
                <a:ea typeface="Calibri"/>
                <a:cs typeface="Calibri"/>
                <a:sym typeface="Calibri"/>
              </a:rPr>
              <a:t>Table_Risque_CC : </a:t>
            </a:r>
            <a:r>
              <a:rPr lang="fr-FR" sz="1100">
                <a:solidFill>
                  <a:schemeClr val="dk2"/>
                </a:solidFill>
                <a:latin typeface="Calibri"/>
                <a:ea typeface="Calibri"/>
                <a:cs typeface="Calibri"/>
                <a:sym typeface="Calibri"/>
              </a:rPr>
              <a:t>La </a:t>
            </a:r>
            <a:r>
              <a:rPr lang="fr-FR" sz="1100" b="1">
                <a:solidFill>
                  <a:schemeClr val="dk2"/>
                </a:solidFill>
                <a:latin typeface="Calibri"/>
                <a:ea typeface="Calibri"/>
                <a:cs typeface="Calibri"/>
                <a:sym typeface="Calibri"/>
              </a:rPr>
              <a:t>Table_Risque_CC</a:t>
            </a:r>
            <a:r>
              <a:rPr lang="fr-FR" sz="1100">
                <a:solidFill>
                  <a:schemeClr val="dk2"/>
                </a:solidFill>
                <a:latin typeface="Calibri"/>
                <a:ea typeface="Calibri"/>
                <a:cs typeface="Calibri"/>
                <a:sym typeface="Calibri"/>
              </a:rPr>
              <a:t> a été créée pour </a:t>
            </a:r>
            <a:r>
              <a:rPr lang="fr-FR" sz="1100" b="1">
                <a:solidFill>
                  <a:schemeClr val="dk2"/>
                </a:solidFill>
                <a:latin typeface="Calibri"/>
                <a:ea typeface="Calibri"/>
                <a:cs typeface="Calibri"/>
                <a:sym typeface="Calibri"/>
              </a:rPr>
              <a:t>évaluer la probabilité de défaut de paiement de chaque client</a:t>
            </a:r>
            <a:r>
              <a:rPr lang="fr-FR" sz="1100">
                <a:solidFill>
                  <a:schemeClr val="dk2"/>
                </a:solidFill>
                <a:latin typeface="Calibri"/>
                <a:ea typeface="Calibri"/>
                <a:cs typeface="Calibri"/>
                <a:sym typeface="Calibri"/>
              </a:rPr>
              <a:t>.</a:t>
            </a:r>
            <a:br>
              <a:rPr lang="fr-FR" sz="1100">
                <a:solidFill>
                  <a:schemeClr val="dk2"/>
                </a:solidFill>
                <a:latin typeface="Calibri"/>
                <a:ea typeface="Calibri"/>
                <a:cs typeface="Calibri"/>
                <a:sym typeface="Calibri"/>
              </a:rPr>
            </a:br>
            <a:r>
              <a:rPr lang="fr-FR" sz="1100">
                <a:solidFill>
                  <a:schemeClr val="dk2"/>
                </a:solidFill>
                <a:latin typeface="Calibri"/>
                <a:ea typeface="Calibri"/>
                <a:cs typeface="Calibri"/>
                <a:sym typeface="Calibri"/>
              </a:rPr>
              <a:t>Elle centralise toutes les informations nécessaires pour calculer un </a:t>
            </a:r>
            <a:r>
              <a:rPr lang="fr-FR" sz="1100" b="1">
                <a:solidFill>
                  <a:schemeClr val="dk2"/>
                </a:solidFill>
                <a:latin typeface="Calibri"/>
                <a:ea typeface="Calibri"/>
                <a:cs typeface="Calibri"/>
                <a:sym typeface="Calibri"/>
              </a:rPr>
              <a:t>score de risque</a:t>
            </a:r>
            <a:r>
              <a:rPr lang="fr-FR" sz="1100">
                <a:solidFill>
                  <a:schemeClr val="dk2"/>
                </a:solidFill>
                <a:latin typeface="Calibri"/>
                <a:ea typeface="Calibri"/>
                <a:cs typeface="Calibri"/>
                <a:sym typeface="Calibri"/>
              </a:rPr>
              <a:t> basé sur le comportement financier du client (transactions, dépôts, retraits, virements, paiements CB...).</a:t>
            </a:r>
            <a:endParaRPr sz="1100">
              <a:solidFill>
                <a:schemeClr val="dk2"/>
              </a:solidFill>
              <a:latin typeface="Calibri"/>
              <a:ea typeface="Calibri"/>
              <a:cs typeface="Calibri"/>
              <a:sym typeface="Calibri"/>
            </a:endParaRPr>
          </a:p>
          <a:p>
            <a:pPr marL="0" lvl="0" indent="0" algn="l" rtl="0">
              <a:lnSpc>
                <a:spcPct val="115000"/>
              </a:lnSpc>
              <a:spcBef>
                <a:spcPts val="1200"/>
              </a:spcBef>
              <a:spcAft>
                <a:spcPts val="0"/>
              </a:spcAft>
              <a:buSzPts val="1100"/>
              <a:buNone/>
            </a:pPr>
            <a:r>
              <a:rPr lang="fr-FR" sz="1100">
                <a:solidFill>
                  <a:schemeClr val="dk2"/>
                </a:solidFill>
                <a:latin typeface="Calibri"/>
                <a:ea typeface="Calibri"/>
                <a:cs typeface="Calibri"/>
                <a:sym typeface="Calibri"/>
              </a:rPr>
              <a:t>Cette table sert de </a:t>
            </a:r>
            <a:r>
              <a:rPr lang="fr-FR" sz="1100" b="1">
                <a:solidFill>
                  <a:schemeClr val="dk2"/>
                </a:solidFill>
                <a:latin typeface="Calibri"/>
                <a:ea typeface="Calibri"/>
                <a:cs typeface="Calibri"/>
                <a:sym typeface="Calibri"/>
              </a:rPr>
              <a:t>base</a:t>
            </a:r>
            <a:r>
              <a:rPr lang="fr-FR" sz="1100">
                <a:solidFill>
                  <a:schemeClr val="dk2"/>
                </a:solidFill>
                <a:latin typeface="Calibri"/>
                <a:ea typeface="Calibri"/>
                <a:cs typeface="Calibri"/>
                <a:sym typeface="Calibri"/>
              </a:rPr>
              <a:t>, c’est elle qui détermine si un client est “faible risque”, “moyen risque” ou “risque élevé”.</a:t>
            </a:r>
            <a:endParaRPr sz="1100">
              <a:solidFill>
                <a:schemeClr val="dk2"/>
              </a:solidFill>
              <a:latin typeface="Calibri"/>
              <a:ea typeface="Calibri"/>
              <a:cs typeface="Calibri"/>
              <a:sym typeface="Calibri"/>
            </a:endParaRPr>
          </a:p>
          <a:p>
            <a:pPr marL="0" lvl="0" indent="0" algn="l" rtl="0">
              <a:lnSpc>
                <a:spcPct val="115000"/>
              </a:lnSpc>
              <a:spcBef>
                <a:spcPts val="1400"/>
              </a:spcBef>
              <a:spcAft>
                <a:spcPts val="0"/>
              </a:spcAft>
              <a:buSzPts val="1100"/>
              <a:buNone/>
            </a:pPr>
            <a:r>
              <a:rPr lang="fr-FR" sz="900" b="1">
                <a:solidFill>
                  <a:schemeClr val="dk2"/>
                </a:solidFill>
                <a:latin typeface="Calibri"/>
                <a:ea typeface="Calibri"/>
                <a:cs typeface="Calibri"/>
                <a:sym typeface="Calibri"/>
              </a:rPr>
              <a:t>Variables créées dans la Table_Risque_CC :</a:t>
            </a:r>
            <a:endParaRPr sz="900" b="1">
              <a:solidFill>
                <a:schemeClr val="dk2"/>
              </a:solidFill>
              <a:latin typeface="Calibri"/>
              <a:ea typeface="Calibri"/>
              <a:cs typeface="Calibri"/>
              <a:sym typeface="Calibri"/>
            </a:endParaRPr>
          </a:p>
          <a:p>
            <a:pPr marL="457200" lvl="0" indent="-285750" algn="l" rtl="0">
              <a:lnSpc>
                <a:spcPct val="115000"/>
              </a:lnSpc>
              <a:spcBef>
                <a:spcPts val="1200"/>
              </a:spcBef>
              <a:spcAft>
                <a:spcPts val="0"/>
              </a:spcAft>
              <a:buClr>
                <a:schemeClr val="dk2"/>
              </a:buClr>
              <a:buSzPts val="900"/>
              <a:buChar char="●"/>
            </a:pPr>
            <a:r>
              <a:rPr lang="fr-FR" sz="900" b="1">
                <a:solidFill>
                  <a:schemeClr val="dk2"/>
                </a:solidFill>
                <a:latin typeface="Calibri"/>
                <a:ea typeface="Calibri"/>
                <a:cs typeface="Calibri"/>
                <a:sym typeface="Calibri"/>
              </a:rPr>
              <a:t>Montant_Depot</a:t>
            </a:r>
            <a:r>
              <a:rPr lang="fr-FR" sz="900">
                <a:solidFill>
                  <a:schemeClr val="dk2"/>
                </a:solidFill>
                <a:latin typeface="Calibri"/>
                <a:ea typeface="Calibri"/>
                <a:cs typeface="Calibri"/>
                <a:sym typeface="Calibri"/>
              </a:rPr>
              <a:t> : montant total des dépôts effectués par le client.</a:t>
            </a:r>
            <a:br>
              <a:rPr lang="fr-FR" sz="900">
                <a:solidFill>
                  <a:schemeClr val="dk2"/>
                </a:solidFill>
                <a:latin typeface="Calibri"/>
                <a:ea typeface="Calibri"/>
                <a:cs typeface="Calibri"/>
                <a:sym typeface="Calibri"/>
              </a:rPr>
            </a:br>
            <a:r>
              <a:rPr lang="fr-FR" sz="900">
                <a:solidFill>
                  <a:schemeClr val="dk2"/>
                </a:solidFill>
                <a:latin typeface="Calibri"/>
                <a:ea typeface="Calibri"/>
                <a:cs typeface="Calibri"/>
                <a:sym typeface="Calibri"/>
              </a:rPr>
              <a:t> ▸ </a:t>
            </a:r>
            <a:r>
              <a:rPr lang="fr-FR" sz="900" i="1">
                <a:solidFill>
                  <a:schemeClr val="dk2"/>
                </a:solidFill>
                <a:latin typeface="Calibri"/>
                <a:ea typeface="Calibri"/>
                <a:cs typeface="Calibri"/>
                <a:sym typeface="Calibri"/>
              </a:rPr>
              <a:t>Formule : somme des transactions dont le type = “Dépôt”</a:t>
            </a:r>
            <a:endParaRPr sz="900" i="1">
              <a:solidFill>
                <a:schemeClr val="dk2"/>
              </a:solidFill>
              <a:latin typeface="Calibri"/>
              <a:ea typeface="Calibri"/>
              <a:cs typeface="Calibri"/>
              <a:sym typeface="Calibri"/>
            </a:endParaRPr>
          </a:p>
          <a:p>
            <a:pPr marL="457200" lvl="0" indent="-285750" algn="l" rtl="0">
              <a:lnSpc>
                <a:spcPct val="115000"/>
              </a:lnSpc>
              <a:spcBef>
                <a:spcPts val="0"/>
              </a:spcBef>
              <a:spcAft>
                <a:spcPts val="0"/>
              </a:spcAft>
              <a:buClr>
                <a:schemeClr val="dk2"/>
              </a:buClr>
              <a:buSzPts val="900"/>
              <a:buChar char="●"/>
            </a:pPr>
            <a:r>
              <a:rPr lang="fr-FR" sz="900" b="1">
                <a:solidFill>
                  <a:schemeClr val="dk2"/>
                </a:solidFill>
                <a:latin typeface="Calibri"/>
                <a:ea typeface="Calibri"/>
                <a:cs typeface="Calibri"/>
                <a:sym typeface="Calibri"/>
              </a:rPr>
              <a:t>Montant_PaiementCB</a:t>
            </a:r>
            <a:r>
              <a:rPr lang="fr-FR" sz="900">
                <a:solidFill>
                  <a:schemeClr val="dk2"/>
                </a:solidFill>
                <a:latin typeface="Calibri"/>
                <a:ea typeface="Calibri"/>
                <a:cs typeface="Calibri"/>
                <a:sym typeface="Calibri"/>
              </a:rPr>
              <a:t> : total des paiements effectués par carte bancaire.</a:t>
            </a:r>
            <a:br>
              <a:rPr lang="fr-FR" sz="900">
                <a:solidFill>
                  <a:schemeClr val="dk2"/>
                </a:solidFill>
                <a:latin typeface="Calibri"/>
                <a:ea typeface="Calibri"/>
                <a:cs typeface="Calibri"/>
                <a:sym typeface="Calibri"/>
              </a:rPr>
            </a:br>
            <a:r>
              <a:rPr lang="fr-FR" sz="900">
                <a:solidFill>
                  <a:schemeClr val="dk2"/>
                </a:solidFill>
                <a:latin typeface="Calibri"/>
                <a:ea typeface="Calibri"/>
                <a:cs typeface="Calibri"/>
                <a:sym typeface="Calibri"/>
              </a:rPr>
              <a:t> ▸ </a:t>
            </a:r>
            <a:r>
              <a:rPr lang="fr-FR" sz="900" i="1">
                <a:solidFill>
                  <a:schemeClr val="dk2"/>
                </a:solidFill>
                <a:latin typeface="Calibri"/>
                <a:ea typeface="Calibri"/>
                <a:cs typeface="Calibri"/>
                <a:sym typeface="Calibri"/>
              </a:rPr>
              <a:t>Formule : somme des transactions dont le type = “Paiement_CB”</a:t>
            </a:r>
            <a:endParaRPr sz="900" i="1">
              <a:solidFill>
                <a:schemeClr val="dk2"/>
              </a:solidFill>
              <a:latin typeface="Calibri"/>
              <a:ea typeface="Calibri"/>
              <a:cs typeface="Calibri"/>
              <a:sym typeface="Calibri"/>
            </a:endParaRPr>
          </a:p>
          <a:p>
            <a:pPr marL="457200" lvl="0" indent="-285750" algn="l" rtl="0">
              <a:lnSpc>
                <a:spcPct val="115000"/>
              </a:lnSpc>
              <a:spcBef>
                <a:spcPts val="0"/>
              </a:spcBef>
              <a:spcAft>
                <a:spcPts val="0"/>
              </a:spcAft>
              <a:buClr>
                <a:schemeClr val="dk2"/>
              </a:buClr>
              <a:buSzPts val="900"/>
              <a:buChar char="●"/>
            </a:pPr>
            <a:r>
              <a:rPr lang="fr-FR" sz="900" b="1">
                <a:solidFill>
                  <a:schemeClr val="dk2"/>
                </a:solidFill>
                <a:latin typeface="Calibri"/>
                <a:ea typeface="Calibri"/>
                <a:cs typeface="Calibri"/>
                <a:sym typeface="Calibri"/>
              </a:rPr>
              <a:t>Montant_Retrait</a:t>
            </a:r>
            <a:r>
              <a:rPr lang="fr-FR" sz="900">
                <a:solidFill>
                  <a:schemeClr val="dk2"/>
                </a:solidFill>
                <a:latin typeface="Calibri"/>
                <a:ea typeface="Calibri"/>
                <a:cs typeface="Calibri"/>
                <a:sym typeface="Calibri"/>
              </a:rPr>
              <a:t> : total des retraits d’espèces réalisés par le client.</a:t>
            </a:r>
            <a:br>
              <a:rPr lang="fr-FR" sz="900">
                <a:solidFill>
                  <a:schemeClr val="dk2"/>
                </a:solidFill>
                <a:latin typeface="Calibri"/>
                <a:ea typeface="Calibri"/>
                <a:cs typeface="Calibri"/>
                <a:sym typeface="Calibri"/>
              </a:rPr>
            </a:br>
            <a:r>
              <a:rPr lang="fr-FR" sz="900">
                <a:solidFill>
                  <a:schemeClr val="dk2"/>
                </a:solidFill>
                <a:latin typeface="Calibri"/>
                <a:ea typeface="Calibri"/>
                <a:cs typeface="Calibri"/>
                <a:sym typeface="Calibri"/>
              </a:rPr>
              <a:t> ▸ </a:t>
            </a:r>
            <a:r>
              <a:rPr lang="fr-FR" sz="900" i="1">
                <a:solidFill>
                  <a:schemeClr val="dk2"/>
                </a:solidFill>
                <a:latin typeface="Calibri"/>
                <a:ea typeface="Calibri"/>
                <a:cs typeface="Calibri"/>
                <a:sym typeface="Calibri"/>
              </a:rPr>
              <a:t>Formule : somme des transactions dont le type = “Retrait”</a:t>
            </a:r>
            <a:endParaRPr sz="900" i="1">
              <a:solidFill>
                <a:schemeClr val="dk2"/>
              </a:solidFill>
              <a:latin typeface="Calibri"/>
              <a:ea typeface="Calibri"/>
              <a:cs typeface="Calibri"/>
              <a:sym typeface="Calibri"/>
            </a:endParaRPr>
          </a:p>
          <a:p>
            <a:pPr marL="457200" lvl="0" indent="-285750" algn="l" rtl="0">
              <a:lnSpc>
                <a:spcPct val="115000"/>
              </a:lnSpc>
              <a:spcBef>
                <a:spcPts val="0"/>
              </a:spcBef>
              <a:spcAft>
                <a:spcPts val="0"/>
              </a:spcAft>
              <a:buClr>
                <a:schemeClr val="dk2"/>
              </a:buClr>
              <a:buSzPts val="900"/>
              <a:buChar char="●"/>
            </a:pPr>
            <a:r>
              <a:rPr lang="fr-FR" sz="900" b="1">
                <a:solidFill>
                  <a:schemeClr val="dk2"/>
                </a:solidFill>
                <a:latin typeface="Calibri"/>
                <a:ea typeface="Calibri"/>
                <a:cs typeface="Calibri"/>
                <a:sym typeface="Calibri"/>
              </a:rPr>
              <a:t>Montant_Virement</a:t>
            </a:r>
            <a:r>
              <a:rPr lang="fr-FR" sz="900">
                <a:solidFill>
                  <a:schemeClr val="dk2"/>
                </a:solidFill>
                <a:latin typeface="Calibri"/>
                <a:ea typeface="Calibri"/>
                <a:cs typeface="Calibri"/>
                <a:sym typeface="Calibri"/>
              </a:rPr>
              <a:t> : total des virements sortants du compte du client.</a:t>
            </a:r>
            <a:br>
              <a:rPr lang="fr-FR" sz="900">
                <a:solidFill>
                  <a:schemeClr val="dk2"/>
                </a:solidFill>
                <a:latin typeface="Calibri"/>
                <a:ea typeface="Calibri"/>
                <a:cs typeface="Calibri"/>
                <a:sym typeface="Calibri"/>
              </a:rPr>
            </a:br>
            <a:r>
              <a:rPr lang="fr-FR" sz="900">
                <a:solidFill>
                  <a:schemeClr val="dk2"/>
                </a:solidFill>
                <a:latin typeface="Calibri"/>
                <a:ea typeface="Calibri"/>
                <a:cs typeface="Calibri"/>
                <a:sym typeface="Calibri"/>
              </a:rPr>
              <a:t> ▸ </a:t>
            </a:r>
            <a:r>
              <a:rPr lang="fr-FR" sz="900" i="1">
                <a:solidFill>
                  <a:schemeClr val="dk2"/>
                </a:solidFill>
                <a:latin typeface="Calibri"/>
                <a:ea typeface="Calibri"/>
                <a:cs typeface="Calibri"/>
                <a:sym typeface="Calibri"/>
              </a:rPr>
              <a:t>Formule : somme des transactions dont le type = “Virement”</a:t>
            </a:r>
            <a:endParaRPr sz="900" i="1">
              <a:solidFill>
                <a:schemeClr val="dk2"/>
              </a:solidFill>
              <a:latin typeface="Calibri"/>
              <a:ea typeface="Calibri"/>
              <a:cs typeface="Calibri"/>
              <a:sym typeface="Calibri"/>
            </a:endParaRPr>
          </a:p>
          <a:p>
            <a:pPr marL="457200" lvl="0" indent="-285750" algn="l" rtl="0">
              <a:lnSpc>
                <a:spcPct val="115000"/>
              </a:lnSpc>
              <a:spcBef>
                <a:spcPts val="0"/>
              </a:spcBef>
              <a:spcAft>
                <a:spcPts val="0"/>
              </a:spcAft>
              <a:buClr>
                <a:schemeClr val="dk2"/>
              </a:buClr>
              <a:buSzPts val="900"/>
              <a:buChar char="●"/>
            </a:pPr>
            <a:r>
              <a:rPr lang="fr-FR" sz="900" b="1">
                <a:solidFill>
                  <a:schemeClr val="dk2"/>
                </a:solidFill>
                <a:latin typeface="Calibri"/>
                <a:ea typeface="Calibri"/>
                <a:cs typeface="Calibri"/>
                <a:sym typeface="Calibri"/>
              </a:rPr>
              <a:t>Montant_Sorties</a:t>
            </a:r>
            <a:r>
              <a:rPr lang="fr-FR" sz="900">
                <a:solidFill>
                  <a:schemeClr val="dk2"/>
                </a:solidFill>
                <a:latin typeface="Calibri"/>
                <a:ea typeface="Calibri"/>
                <a:cs typeface="Calibri"/>
                <a:sym typeface="Calibri"/>
              </a:rPr>
              <a:t> : total des montants sortants du compte.</a:t>
            </a:r>
            <a:br>
              <a:rPr lang="fr-FR" sz="900">
                <a:solidFill>
                  <a:schemeClr val="dk2"/>
                </a:solidFill>
                <a:latin typeface="Calibri"/>
                <a:ea typeface="Calibri"/>
                <a:cs typeface="Calibri"/>
                <a:sym typeface="Calibri"/>
              </a:rPr>
            </a:br>
            <a:r>
              <a:rPr lang="fr-FR" sz="900">
                <a:solidFill>
                  <a:schemeClr val="dk2"/>
                </a:solidFill>
                <a:latin typeface="Calibri"/>
                <a:ea typeface="Calibri"/>
                <a:cs typeface="Calibri"/>
                <a:sym typeface="Calibri"/>
              </a:rPr>
              <a:t> ▸ </a:t>
            </a:r>
            <a:r>
              <a:rPr lang="fr-FR" sz="900" i="1">
                <a:solidFill>
                  <a:schemeClr val="dk2"/>
                </a:solidFill>
                <a:latin typeface="Calibri"/>
                <a:ea typeface="Calibri"/>
                <a:cs typeface="Calibri"/>
                <a:sym typeface="Calibri"/>
              </a:rPr>
              <a:t>Formule : somme de (Paiement_CB + Retrait + Virement)</a:t>
            </a:r>
            <a:endParaRPr sz="900" i="1">
              <a:solidFill>
                <a:schemeClr val="dk2"/>
              </a:solidFill>
              <a:latin typeface="Calibri"/>
              <a:ea typeface="Calibri"/>
              <a:cs typeface="Calibri"/>
              <a:sym typeface="Calibri"/>
            </a:endParaRPr>
          </a:p>
          <a:p>
            <a:pPr marL="457200" lvl="0" indent="-285750" algn="l" rtl="0">
              <a:lnSpc>
                <a:spcPct val="115000"/>
              </a:lnSpc>
              <a:spcBef>
                <a:spcPts val="0"/>
              </a:spcBef>
              <a:spcAft>
                <a:spcPts val="0"/>
              </a:spcAft>
              <a:buClr>
                <a:schemeClr val="dk2"/>
              </a:buClr>
              <a:buSzPts val="900"/>
              <a:buChar char="●"/>
            </a:pPr>
            <a:r>
              <a:rPr lang="fr-FR" sz="900" b="1">
                <a:solidFill>
                  <a:schemeClr val="dk2"/>
                </a:solidFill>
                <a:latin typeface="Calibri"/>
                <a:ea typeface="Calibri"/>
                <a:cs typeface="Calibri"/>
                <a:sym typeface="Calibri"/>
              </a:rPr>
              <a:t>Flux_Net</a:t>
            </a:r>
            <a:r>
              <a:rPr lang="fr-FR" sz="900">
                <a:solidFill>
                  <a:schemeClr val="dk2"/>
                </a:solidFill>
                <a:latin typeface="Calibri"/>
                <a:ea typeface="Calibri"/>
                <a:cs typeface="Calibri"/>
                <a:sym typeface="Calibri"/>
              </a:rPr>
              <a:t> : différence entre les entrées et les sorties d’argent.</a:t>
            </a:r>
            <a:br>
              <a:rPr lang="fr-FR" sz="900">
                <a:solidFill>
                  <a:schemeClr val="dk2"/>
                </a:solidFill>
                <a:latin typeface="Calibri"/>
                <a:ea typeface="Calibri"/>
                <a:cs typeface="Calibri"/>
                <a:sym typeface="Calibri"/>
              </a:rPr>
            </a:br>
            <a:r>
              <a:rPr lang="fr-FR" sz="900">
                <a:solidFill>
                  <a:schemeClr val="dk2"/>
                </a:solidFill>
                <a:latin typeface="Calibri"/>
                <a:ea typeface="Calibri"/>
                <a:cs typeface="Calibri"/>
                <a:sym typeface="Calibri"/>
              </a:rPr>
              <a:t> ▸ </a:t>
            </a:r>
            <a:r>
              <a:rPr lang="fr-FR" sz="900" i="1">
                <a:solidFill>
                  <a:schemeClr val="dk2"/>
                </a:solidFill>
                <a:latin typeface="Calibri"/>
                <a:ea typeface="Calibri"/>
                <a:cs typeface="Calibri"/>
                <a:sym typeface="Calibri"/>
              </a:rPr>
              <a:t>Formule : Flux_Net = Montant_Depot - Montant_Sorties</a:t>
            </a:r>
            <a:endParaRPr sz="900" i="1">
              <a:solidFill>
                <a:schemeClr val="dk2"/>
              </a:solidFill>
              <a:latin typeface="Calibri"/>
              <a:ea typeface="Calibri"/>
              <a:cs typeface="Calibri"/>
              <a:sym typeface="Calibri"/>
            </a:endParaRPr>
          </a:p>
          <a:p>
            <a:pPr marL="457200" lvl="0" indent="-285750" algn="l" rtl="0">
              <a:lnSpc>
                <a:spcPct val="115000"/>
              </a:lnSpc>
              <a:spcBef>
                <a:spcPts val="0"/>
              </a:spcBef>
              <a:spcAft>
                <a:spcPts val="0"/>
              </a:spcAft>
              <a:buClr>
                <a:schemeClr val="dk2"/>
              </a:buClr>
              <a:buSzPts val="900"/>
              <a:buChar char="●"/>
            </a:pPr>
            <a:r>
              <a:rPr lang="fr-FR" sz="900" b="1">
                <a:solidFill>
                  <a:schemeClr val="dk2"/>
                </a:solidFill>
                <a:latin typeface="Calibri"/>
                <a:ea typeface="Calibri"/>
                <a:cs typeface="Calibri"/>
                <a:sym typeface="Calibri"/>
              </a:rPr>
              <a:t>Ratio_Sorties_Depots</a:t>
            </a:r>
            <a:r>
              <a:rPr lang="fr-FR" sz="900">
                <a:solidFill>
                  <a:schemeClr val="dk2"/>
                </a:solidFill>
                <a:latin typeface="Calibri"/>
                <a:ea typeface="Calibri"/>
                <a:cs typeface="Calibri"/>
                <a:sym typeface="Calibri"/>
              </a:rPr>
              <a:t> : indicateur de dépendance financière du client.</a:t>
            </a:r>
            <a:br>
              <a:rPr lang="fr-FR" sz="900">
                <a:solidFill>
                  <a:schemeClr val="dk2"/>
                </a:solidFill>
                <a:latin typeface="Calibri"/>
                <a:ea typeface="Calibri"/>
                <a:cs typeface="Calibri"/>
                <a:sym typeface="Calibri"/>
              </a:rPr>
            </a:br>
            <a:r>
              <a:rPr lang="fr-FR" sz="900">
                <a:solidFill>
                  <a:schemeClr val="dk2"/>
                </a:solidFill>
                <a:latin typeface="Calibri"/>
                <a:ea typeface="Calibri"/>
                <a:cs typeface="Calibri"/>
                <a:sym typeface="Calibri"/>
              </a:rPr>
              <a:t> ▸ </a:t>
            </a:r>
            <a:r>
              <a:rPr lang="fr-FR" sz="900" i="1">
                <a:solidFill>
                  <a:schemeClr val="dk2"/>
                </a:solidFill>
                <a:latin typeface="Calibri"/>
                <a:ea typeface="Calibri"/>
                <a:cs typeface="Calibri"/>
                <a:sym typeface="Calibri"/>
              </a:rPr>
              <a:t>Formule : Ratio = Montant_Sorties / Montant_Depot</a:t>
            </a:r>
            <a:endParaRPr sz="900" i="1">
              <a:solidFill>
                <a:schemeClr val="dk2"/>
              </a:solidFill>
              <a:latin typeface="Calibri"/>
              <a:ea typeface="Calibri"/>
              <a:cs typeface="Calibri"/>
              <a:sym typeface="Calibri"/>
            </a:endParaRPr>
          </a:p>
          <a:p>
            <a:pPr marL="457200" lvl="0" indent="-285750" algn="l" rtl="0">
              <a:lnSpc>
                <a:spcPct val="115000"/>
              </a:lnSpc>
              <a:spcBef>
                <a:spcPts val="0"/>
              </a:spcBef>
              <a:spcAft>
                <a:spcPts val="0"/>
              </a:spcAft>
              <a:buClr>
                <a:schemeClr val="dk2"/>
              </a:buClr>
              <a:buSzPts val="900"/>
              <a:buChar char="●"/>
            </a:pPr>
            <a:r>
              <a:rPr lang="fr-FR" sz="900" b="1">
                <a:solidFill>
                  <a:schemeClr val="dk2"/>
                </a:solidFill>
                <a:latin typeface="Calibri"/>
                <a:ea typeface="Calibri"/>
                <a:cs typeface="Calibri"/>
                <a:sym typeface="Calibri"/>
              </a:rPr>
              <a:t>Score_Default_0_100</a:t>
            </a:r>
            <a:r>
              <a:rPr lang="fr-FR" sz="900">
                <a:solidFill>
                  <a:schemeClr val="dk2"/>
                </a:solidFill>
                <a:latin typeface="Calibri"/>
                <a:ea typeface="Calibri"/>
                <a:cs typeface="Calibri"/>
                <a:sym typeface="Calibri"/>
              </a:rPr>
              <a:t> : score global du risque de défaut (de 0 à 100).</a:t>
            </a:r>
            <a:br>
              <a:rPr lang="fr-FR" sz="900">
                <a:solidFill>
                  <a:schemeClr val="dk2"/>
                </a:solidFill>
                <a:latin typeface="Calibri"/>
                <a:ea typeface="Calibri"/>
                <a:cs typeface="Calibri"/>
                <a:sym typeface="Calibri"/>
              </a:rPr>
            </a:br>
            <a:r>
              <a:rPr lang="fr-FR" sz="900">
                <a:solidFill>
                  <a:schemeClr val="dk2"/>
                </a:solidFill>
                <a:latin typeface="Calibri"/>
                <a:ea typeface="Calibri"/>
                <a:cs typeface="Calibri"/>
                <a:sym typeface="Calibri"/>
              </a:rPr>
              <a:t> ▸ </a:t>
            </a:r>
            <a:r>
              <a:rPr lang="fr-FR" sz="900" i="1">
                <a:solidFill>
                  <a:schemeClr val="dk2"/>
                </a:solidFill>
                <a:latin typeface="Calibri"/>
                <a:ea typeface="Calibri"/>
                <a:cs typeface="Calibri"/>
                <a:sym typeface="Calibri"/>
              </a:rPr>
              <a:t>Calculé à partir du ratio et du flux net.</a:t>
            </a:r>
            <a:endParaRPr sz="900" i="1">
              <a:solidFill>
                <a:schemeClr val="dk2"/>
              </a:solidFill>
              <a:latin typeface="Calibri"/>
              <a:ea typeface="Calibri"/>
              <a:cs typeface="Calibri"/>
              <a:sym typeface="Calibri"/>
            </a:endParaRPr>
          </a:p>
          <a:p>
            <a:pPr marL="457200" lvl="0" indent="-285750" algn="l" rtl="0">
              <a:lnSpc>
                <a:spcPct val="115000"/>
              </a:lnSpc>
              <a:spcBef>
                <a:spcPts val="0"/>
              </a:spcBef>
              <a:spcAft>
                <a:spcPts val="0"/>
              </a:spcAft>
              <a:buClr>
                <a:schemeClr val="dk2"/>
              </a:buClr>
              <a:buSzPts val="900"/>
              <a:buChar char="●"/>
            </a:pPr>
            <a:r>
              <a:rPr lang="fr-FR" sz="900" b="1">
                <a:solidFill>
                  <a:schemeClr val="dk2"/>
                </a:solidFill>
                <a:latin typeface="Calibri"/>
                <a:ea typeface="Calibri"/>
                <a:cs typeface="Calibri"/>
                <a:sym typeface="Calibri"/>
              </a:rPr>
              <a:t>Risque_Default</a:t>
            </a:r>
            <a:r>
              <a:rPr lang="fr-FR" sz="900">
                <a:solidFill>
                  <a:schemeClr val="dk2"/>
                </a:solidFill>
                <a:latin typeface="Calibri"/>
                <a:ea typeface="Calibri"/>
                <a:cs typeface="Calibri"/>
                <a:sym typeface="Calibri"/>
              </a:rPr>
              <a:t> : classification du risque de défaut.</a:t>
            </a:r>
            <a:br>
              <a:rPr lang="fr-FR" sz="900">
                <a:solidFill>
                  <a:schemeClr val="dk2"/>
                </a:solidFill>
                <a:latin typeface="Calibri"/>
                <a:ea typeface="Calibri"/>
                <a:cs typeface="Calibri"/>
                <a:sym typeface="Calibri"/>
              </a:rPr>
            </a:br>
            <a:r>
              <a:rPr lang="fr-FR" sz="900">
                <a:solidFill>
                  <a:schemeClr val="dk2"/>
                </a:solidFill>
                <a:latin typeface="Calibri"/>
                <a:ea typeface="Calibri"/>
                <a:cs typeface="Calibri"/>
                <a:sym typeface="Calibri"/>
              </a:rPr>
              <a:t> ▸ </a:t>
            </a:r>
            <a:r>
              <a:rPr lang="fr-FR" sz="900" i="1">
                <a:solidFill>
                  <a:schemeClr val="dk2"/>
                </a:solidFill>
                <a:latin typeface="Calibri"/>
                <a:ea typeface="Calibri"/>
                <a:cs typeface="Calibri"/>
                <a:sym typeface="Calibri"/>
              </a:rPr>
              <a:t>Déterminé automatiquement selon le score obtenu (Élevé, Moyen, Faible).</a:t>
            </a:r>
            <a:endParaRPr sz="900" i="1">
              <a:solidFill>
                <a:schemeClr val="dk2"/>
              </a:solidFill>
              <a:latin typeface="Calibri"/>
              <a:ea typeface="Calibri"/>
              <a:cs typeface="Calibri"/>
              <a:sym typeface="Calibri"/>
            </a:endParaRPr>
          </a:p>
          <a:p>
            <a:pPr marL="0" lvl="0" indent="0" algn="l" rtl="0">
              <a:lnSpc>
                <a:spcPct val="115000"/>
              </a:lnSpc>
              <a:spcBef>
                <a:spcPts val="1200"/>
              </a:spcBef>
              <a:spcAft>
                <a:spcPts val="0"/>
              </a:spcAft>
              <a:buSzPts val="1100"/>
              <a:buNone/>
            </a:pPr>
            <a:endParaRPr sz="900">
              <a:solidFill>
                <a:schemeClr val="dk2"/>
              </a:solidFill>
              <a:latin typeface="Calibri"/>
              <a:ea typeface="Calibri"/>
              <a:cs typeface="Calibri"/>
              <a:sym typeface="Calibri"/>
            </a:endParaRPr>
          </a:p>
          <a:p>
            <a:pPr marL="0" lvl="0" indent="0" algn="l" rtl="0">
              <a:lnSpc>
                <a:spcPct val="115000"/>
              </a:lnSpc>
              <a:spcBef>
                <a:spcPts val="1400"/>
              </a:spcBef>
              <a:spcAft>
                <a:spcPts val="0"/>
              </a:spcAft>
              <a:buSzPts val="1100"/>
              <a:buNone/>
            </a:pPr>
            <a:endParaRPr sz="900" b="1">
              <a:solidFill>
                <a:schemeClr val="dk2"/>
              </a:solidFill>
              <a:latin typeface="Calibri"/>
              <a:ea typeface="Calibri"/>
              <a:cs typeface="Calibri"/>
              <a:sym typeface="Calibri"/>
            </a:endParaRPr>
          </a:p>
          <a:p>
            <a:pPr marL="0" lvl="0" indent="0" algn="l" rtl="0">
              <a:spcBef>
                <a:spcPts val="400"/>
              </a:spcBef>
              <a:spcAft>
                <a:spcPts val="0"/>
              </a:spcAft>
              <a:buNone/>
            </a:pPr>
            <a:endParaRPr sz="900">
              <a:solidFill>
                <a:schemeClr val="dk2"/>
              </a:solidFill>
              <a:latin typeface="Calibri"/>
              <a:ea typeface="Calibri"/>
              <a:cs typeface="Calibri"/>
              <a:sym typeface="Calibri"/>
            </a:endParaRPr>
          </a:p>
        </p:txBody>
      </p:sp>
      <p:sp>
        <p:nvSpPr>
          <p:cNvPr id="282" name="Google Shape;282;g3a2096760fb_0_33"/>
          <p:cNvSpPr/>
          <p:nvPr/>
        </p:nvSpPr>
        <p:spPr>
          <a:xfrm>
            <a:off x="7788408" y="6453377"/>
            <a:ext cx="13197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283" name="Google Shape;283;g3a2096760fb_0_33"/>
          <p:cNvSpPr txBox="1">
            <a:spLocks noGrp="1"/>
          </p:cNvSpPr>
          <p:nvPr>
            <p:ph type="sldNum" idx="12"/>
          </p:nvPr>
        </p:nvSpPr>
        <p:spPr>
          <a:xfrm>
            <a:off x="4572000" y="6448251"/>
            <a:ext cx="792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12</a:t>
            </a:fld>
            <a:endParaRPr sz="2400" b="1">
              <a:solidFill>
                <a:srgbClr val="D9B300"/>
              </a:solidFill>
            </a:endParaRPr>
          </a:p>
        </p:txBody>
      </p:sp>
      <p:sp>
        <p:nvSpPr>
          <p:cNvPr id="284" name="Google Shape;284;g3a2096760fb_0_33"/>
          <p:cNvSpPr txBox="1"/>
          <p:nvPr/>
        </p:nvSpPr>
        <p:spPr>
          <a:xfrm>
            <a:off x="3016665" y="6448251"/>
            <a:ext cx="1555247"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pic>
        <p:nvPicPr>
          <p:cNvPr id="285" name="Google Shape;285;g3a2096760fb_0_33"/>
          <p:cNvPicPr preferRelativeResize="0"/>
          <p:nvPr/>
        </p:nvPicPr>
        <p:blipFill>
          <a:blip r:embed="rId4">
            <a:alphaModFix/>
          </a:blip>
          <a:stretch>
            <a:fillRect/>
          </a:stretch>
        </p:blipFill>
        <p:spPr>
          <a:xfrm>
            <a:off x="5578675" y="1162301"/>
            <a:ext cx="3419350" cy="4851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291" name="Google Shape;291;g3a2096760fb_0_49"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292" name="Google Shape;292;g3a2096760fb_0_49"/>
          <p:cNvSpPr/>
          <p:nvPr/>
        </p:nvSpPr>
        <p:spPr>
          <a:xfrm>
            <a:off x="4572000" y="6164493"/>
            <a:ext cx="4536000" cy="216000"/>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 name="Google Shape;293;g3a2096760fb_0_49"/>
          <p:cNvSpPr/>
          <p:nvPr/>
        </p:nvSpPr>
        <p:spPr>
          <a:xfrm>
            <a:off x="36000" y="6164493"/>
            <a:ext cx="4536000" cy="216000"/>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4" name="Google Shape;294;g3a2096760fb_0_49"/>
          <p:cNvSpPr/>
          <p:nvPr/>
        </p:nvSpPr>
        <p:spPr>
          <a:xfrm>
            <a:off x="241875" y="1150900"/>
            <a:ext cx="8545500" cy="4874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fr-FR" sz="1100">
                <a:solidFill>
                  <a:schemeClr val="dk2"/>
                </a:solidFill>
                <a:latin typeface="Calibri"/>
                <a:ea typeface="Calibri"/>
                <a:cs typeface="Calibri"/>
                <a:sym typeface="Calibri"/>
              </a:rPr>
              <a:t>Le </a:t>
            </a:r>
            <a:r>
              <a:rPr lang="fr-FR" sz="1100" b="1">
                <a:solidFill>
                  <a:schemeClr val="dk2"/>
                </a:solidFill>
                <a:latin typeface="Calibri"/>
                <a:ea typeface="Calibri"/>
                <a:cs typeface="Calibri"/>
                <a:sym typeface="Calibri"/>
              </a:rPr>
              <a:t>Score_Default_0_100</a:t>
            </a:r>
            <a:r>
              <a:rPr lang="fr-FR" sz="1100">
                <a:solidFill>
                  <a:schemeClr val="dk2"/>
                </a:solidFill>
                <a:latin typeface="Calibri"/>
                <a:ea typeface="Calibri"/>
                <a:cs typeface="Calibri"/>
                <a:sym typeface="Calibri"/>
              </a:rPr>
              <a:t> a été conçu pour représenter </a:t>
            </a:r>
            <a:r>
              <a:rPr lang="fr-FR" sz="1100" b="1">
                <a:solidFill>
                  <a:schemeClr val="dk2"/>
                </a:solidFill>
                <a:latin typeface="Calibri"/>
                <a:ea typeface="Calibri"/>
                <a:cs typeface="Calibri"/>
                <a:sym typeface="Calibri"/>
              </a:rPr>
              <a:t>le niveau de fragilité financière</a:t>
            </a:r>
            <a:r>
              <a:rPr lang="fr-FR" sz="1100">
                <a:solidFill>
                  <a:schemeClr val="dk2"/>
                </a:solidFill>
                <a:latin typeface="Calibri"/>
                <a:ea typeface="Calibri"/>
                <a:cs typeface="Calibri"/>
                <a:sym typeface="Calibri"/>
              </a:rPr>
              <a:t> d’un client.</a:t>
            </a:r>
            <a:br>
              <a:rPr lang="fr-FR" sz="1100">
                <a:solidFill>
                  <a:schemeClr val="dk2"/>
                </a:solidFill>
                <a:latin typeface="Calibri"/>
                <a:ea typeface="Calibri"/>
                <a:cs typeface="Calibri"/>
                <a:sym typeface="Calibri"/>
              </a:rPr>
            </a:br>
            <a:r>
              <a:rPr lang="fr-FR" sz="1100">
                <a:solidFill>
                  <a:schemeClr val="dk2"/>
                </a:solidFill>
                <a:latin typeface="Calibri"/>
                <a:ea typeface="Calibri"/>
                <a:cs typeface="Calibri"/>
                <a:sym typeface="Calibri"/>
              </a:rPr>
              <a:t> Il se base sur deux indicateurs clés :</a:t>
            </a:r>
            <a:endParaRPr sz="1100">
              <a:solidFill>
                <a:schemeClr val="dk2"/>
              </a:solidFill>
              <a:latin typeface="Calibri"/>
              <a:ea typeface="Calibri"/>
              <a:cs typeface="Calibri"/>
              <a:sym typeface="Calibri"/>
            </a:endParaRPr>
          </a:p>
          <a:p>
            <a:pPr marL="457200" lvl="0" indent="-298450" algn="l" rtl="0">
              <a:lnSpc>
                <a:spcPct val="115000"/>
              </a:lnSpc>
              <a:spcBef>
                <a:spcPts val="1200"/>
              </a:spcBef>
              <a:spcAft>
                <a:spcPts val="0"/>
              </a:spcAft>
              <a:buClr>
                <a:schemeClr val="dk2"/>
              </a:buClr>
              <a:buSzPts val="1100"/>
              <a:buAutoNum type="arabicPeriod"/>
            </a:pPr>
            <a:r>
              <a:rPr lang="fr-FR" sz="1100">
                <a:solidFill>
                  <a:schemeClr val="dk2"/>
                </a:solidFill>
                <a:latin typeface="Calibri"/>
                <a:ea typeface="Calibri"/>
                <a:cs typeface="Calibri"/>
                <a:sym typeface="Calibri"/>
              </a:rPr>
              <a:t>le </a:t>
            </a:r>
            <a:r>
              <a:rPr lang="fr-FR" sz="1100" b="1">
                <a:solidFill>
                  <a:schemeClr val="dk2"/>
                </a:solidFill>
                <a:latin typeface="Calibri"/>
                <a:ea typeface="Calibri"/>
                <a:cs typeface="Calibri"/>
                <a:sym typeface="Calibri"/>
              </a:rPr>
              <a:t>Flux Net</a:t>
            </a:r>
            <a:r>
              <a:rPr lang="fr-FR" sz="1100">
                <a:solidFill>
                  <a:schemeClr val="dk2"/>
                </a:solidFill>
                <a:latin typeface="Calibri"/>
                <a:ea typeface="Calibri"/>
                <a:cs typeface="Calibri"/>
                <a:sym typeface="Calibri"/>
              </a:rPr>
              <a:t>, qui montre si le client dépose plus qu’il ne dépense,</a:t>
            </a:r>
            <a:endParaRPr sz="1100">
              <a:solidFill>
                <a:schemeClr val="dk2"/>
              </a:solidFill>
              <a:latin typeface="Calibri"/>
              <a:ea typeface="Calibri"/>
              <a:cs typeface="Calibri"/>
              <a:sym typeface="Calibri"/>
            </a:endParaRPr>
          </a:p>
          <a:p>
            <a:pPr marL="457200" lvl="0" indent="-298450" algn="l" rtl="0">
              <a:lnSpc>
                <a:spcPct val="115000"/>
              </a:lnSpc>
              <a:spcBef>
                <a:spcPts val="0"/>
              </a:spcBef>
              <a:spcAft>
                <a:spcPts val="0"/>
              </a:spcAft>
              <a:buClr>
                <a:schemeClr val="dk2"/>
              </a:buClr>
              <a:buSzPts val="1100"/>
              <a:buAutoNum type="arabicPeriod"/>
            </a:pPr>
            <a:r>
              <a:rPr lang="fr-FR" sz="1100">
                <a:solidFill>
                  <a:schemeClr val="dk2"/>
                </a:solidFill>
                <a:latin typeface="Calibri"/>
                <a:ea typeface="Calibri"/>
                <a:cs typeface="Calibri"/>
                <a:sym typeface="Calibri"/>
              </a:rPr>
              <a:t>le </a:t>
            </a:r>
            <a:r>
              <a:rPr lang="fr-FR" sz="1100" b="1">
                <a:solidFill>
                  <a:schemeClr val="dk2"/>
                </a:solidFill>
                <a:latin typeface="Calibri"/>
                <a:ea typeface="Calibri"/>
                <a:cs typeface="Calibri"/>
                <a:sym typeface="Calibri"/>
              </a:rPr>
              <a:t>Ratio Sorties / Dépôts</a:t>
            </a:r>
            <a:r>
              <a:rPr lang="fr-FR" sz="1100">
                <a:solidFill>
                  <a:schemeClr val="dk2"/>
                </a:solidFill>
                <a:latin typeface="Calibri"/>
                <a:ea typeface="Calibri"/>
                <a:cs typeface="Calibri"/>
                <a:sym typeface="Calibri"/>
              </a:rPr>
              <a:t>, qui révèle la proportion d’argent dépensé par rapport à ce qui est déposé.</a:t>
            </a:r>
            <a:endParaRPr sz="1100">
              <a:solidFill>
                <a:schemeClr val="dk2"/>
              </a:solidFill>
              <a:latin typeface="Calibri"/>
              <a:ea typeface="Calibri"/>
              <a:cs typeface="Calibri"/>
              <a:sym typeface="Calibri"/>
            </a:endParaRPr>
          </a:p>
          <a:p>
            <a:pPr marL="0" lvl="0" indent="0" algn="l" rtl="0">
              <a:spcBef>
                <a:spcPts val="1200"/>
              </a:spcBef>
              <a:spcAft>
                <a:spcPts val="0"/>
              </a:spcAft>
              <a:buNone/>
            </a:pPr>
            <a:r>
              <a:rPr lang="fr-FR" sz="1100" b="1">
                <a:solidFill>
                  <a:schemeClr val="dk2"/>
                </a:solidFill>
                <a:latin typeface="Calibri"/>
                <a:ea typeface="Calibri"/>
                <a:cs typeface="Calibri"/>
                <a:sym typeface="Calibri"/>
              </a:rPr>
              <a:t>Catégorisation du risque : </a:t>
            </a:r>
            <a:endParaRPr sz="1100" b="1">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r>
              <a:rPr lang="fr-FR" sz="1100">
                <a:solidFill>
                  <a:schemeClr val="dk2"/>
                </a:solidFill>
                <a:latin typeface="Calibri"/>
                <a:ea typeface="Calibri"/>
                <a:cs typeface="Calibri"/>
                <a:sym typeface="Calibri"/>
              </a:rPr>
              <a:t>Une fois le score calculé, on a défini 3 classes de risque selon les seuils suivants :</a:t>
            </a:r>
            <a:endParaRPr sz="1100">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endParaRPr sz="1100" b="1">
              <a:solidFill>
                <a:schemeClr val="dk2"/>
              </a:solidFill>
              <a:latin typeface="Calibri"/>
              <a:ea typeface="Calibri"/>
              <a:cs typeface="Calibri"/>
              <a:sym typeface="Calibri"/>
            </a:endParaRPr>
          </a:p>
          <a:p>
            <a:pPr marL="0" lvl="0" indent="0" algn="l" rtl="0">
              <a:spcBef>
                <a:spcPts val="0"/>
              </a:spcBef>
              <a:spcAft>
                <a:spcPts val="0"/>
              </a:spcAft>
              <a:buNone/>
            </a:pPr>
            <a:r>
              <a:rPr lang="fr-FR" sz="1100">
                <a:solidFill>
                  <a:schemeClr val="dk2"/>
                </a:solidFill>
                <a:latin typeface="Calibri"/>
                <a:ea typeface="Calibri"/>
                <a:cs typeface="Calibri"/>
                <a:sym typeface="Calibri"/>
              </a:rPr>
              <a:t>Grâce à la création de cette table et aux nouvelles mesures calculées, nous avons pu concevoir des visuels dynamiques et explicites avec Power BI, permettant d’identifier rapidement les profils à risque.</a:t>
            </a:r>
            <a:endParaRPr sz="1100">
              <a:solidFill>
                <a:schemeClr val="dk2"/>
              </a:solidFill>
              <a:latin typeface="Calibri"/>
              <a:ea typeface="Calibri"/>
              <a:cs typeface="Calibri"/>
              <a:sym typeface="Calibri"/>
            </a:endParaRPr>
          </a:p>
        </p:txBody>
      </p:sp>
      <p:sp>
        <p:nvSpPr>
          <p:cNvPr id="295" name="Google Shape;295;g3a2096760fb_0_49"/>
          <p:cNvSpPr/>
          <p:nvPr/>
        </p:nvSpPr>
        <p:spPr>
          <a:xfrm>
            <a:off x="7788408" y="6453377"/>
            <a:ext cx="13197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296" name="Google Shape;296;g3a2096760fb_0_49"/>
          <p:cNvSpPr txBox="1">
            <a:spLocks noGrp="1"/>
          </p:cNvSpPr>
          <p:nvPr>
            <p:ph type="sldNum" idx="12"/>
          </p:nvPr>
        </p:nvSpPr>
        <p:spPr>
          <a:xfrm>
            <a:off x="4572000" y="6448251"/>
            <a:ext cx="792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13</a:t>
            </a:fld>
            <a:endParaRPr sz="2400" b="1">
              <a:solidFill>
                <a:srgbClr val="D9B300"/>
              </a:solidFill>
            </a:endParaRPr>
          </a:p>
        </p:txBody>
      </p:sp>
      <p:sp>
        <p:nvSpPr>
          <p:cNvPr id="297" name="Google Shape;297;g3a2096760fb_0_49"/>
          <p:cNvSpPr txBox="1"/>
          <p:nvPr/>
        </p:nvSpPr>
        <p:spPr>
          <a:xfrm>
            <a:off x="3419872" y="6448251"/>
            <a:ext cx="115204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a:solidFill>
                  <a:srgbClr val="D9B300"/>
                </a:solidFill>
                <a:latin typeface="Calibri"/>
                <a:ea typeface="Calibri"/>
                <a:cs typeface="Calibri"/>
                <a:sym typeface="Calibri"/>
              </a:rPr>
              <a:t>Page</a:t>
            </a:r>
            <a:endParaRPr sz="2400" b="1">
              <a:solidFill>
                <a:srgbClr val="D9B300"/>
              </a:solidFill>
              <a:latin typeface="Calibri"/>
              <a:ea typeface="Calibri"/>
              <a:cs typeface="Calibri"/>
              <a:sym typeface="Calibri"/>
            </a:endParaRPr>
          </a:p>
        </p:txBody>
      </p:sp>
      <p:pic>
        <p:nvPicPr>
          <p:cNvPr id="298" name="Google Shape;298;g3a2096760fb_0_49"/>
          <p:cNvPicPr preferRelativeResize="0"/>
          <p:nvPr/>
        </p:nvPicPr>
        <p:blipFill>
          <a:blip r:embed="rId4">
            <a:alphaModFix/>
          </a:blip>
          <a:stretch>
            <a:fillRect/>
          </a:stretch>
        </p:blipFill>
        <p:spPr>
          <a:xfrm>
            <a:off x="339600" y="2890050"/>
            <a:ext cx="4867425" cy="1871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g3a2096760fb_0_126"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305" name="Google Shape;305;g3a2096760fb_0_126"/>
          <p:cNvSpPr/>
          <p:nvPr/>
        </p:nvSpPr>
        <p:spPr>
          <a:xfrm>
            <a:off x="4572000" y="6164493"/>
            <a:ext cx="4536000" cy="216000"/>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6" name="Google Shape;306;g3a2096760fb_0_126"/>
          <p:cNvSpPr/>
          <p:nvPr/>
        </p:nvSpPr>
        <p:spPr>
          <a:xfrm>
            <a:off x="36000" y="6164493"/>
            <a:ext cx="4536000" cy="216000"/>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7" name="Google Shape;307;g3a2096760fb_0_126"/>
          <p:cNvSpPr/>
          <p:nvPr/>
        </p:nvSpPr>
        <p:spPr>
          <a:xfrm>
            <a:off x="241875" y="1033675"/>
            <a:ext cx="8545500" cy="369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b="1">
                <a:solidFill>
                  <a:schemeClr val="dk2"/>
                </a:solidFill>
                <a:latin typeface="Calibri"/>
                <a:ea typeface="Calibri"/>
                <a:cs typeface="Calibri"/>
                <a:sym typeface="Calibri"/>
              </a:rPr>
              <a:t>Aperçu du visuel : </a:t>
            </a:r>
            <a:endParaRPr b="1">
              <a:solidFill>
                <a:schemeClr val="dk2"/>
              </a:solidFill>
              <a:latin typeface="Calibri"/>
              <a:ea typeface="Calibri"/>
              <a:cs typeface="Calibri"/>
              <a:sym typeface="Calibri"/>
            </a:endParaRPr>
          </a:p>
        </p:txBody>
      </p:sp>
      <p:sp>
        <p:nvSpPr>
          <p:cNvPr id="308" name="Google Shape;308;g3a2096760fb_0_126"/>
          <p:cNvSpPr/>
          <p:nvPr/>
        </p:nvSpPr>
        <p:spPr>
          <a:xfrm>
            <a:off x="7788408" y="6453377"/>
            <a:ext cx="13197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309" name="Google Shape;309;g3a2096760fb_0_126"/>
          <p:cNvSpPr txBox="1">
            <a:spLocks noGrp="1"/>
          </p:cNvSpPr>
          <p:nvPr>
            <p:ph type="sldNum" idx="12"/>
          </p:nvPr>
        </p:nvSpPr>
        <p:spPr>
          <a:xfrm>
            <a:off x="4572000" y="6448251"/>
            <a:ext cx="792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14</a:t>
            </a:fld>
            <a:endParaRPr sz="2400" b="1">
              <a:solidFill>
                <a:srgbClr val="D9B300"/>
              </a:solidFill>
            </a:endParaRPr>
          </a:p>
        </p:txBody>
      </p:sp>
      <p:sp>
        <p:nvSpPr>
          <p:cNvPr id="310" name="Google Shape;310;g3a2096760fb_0_126"/>
          <p:cNvSpPr txBox="1"/>
          <p:nvPr/>
        </p:nvSpPr>
        <p:spPr>
          <a:xfrm>
            <a:off x="3358497" y="6448251"/>
            <a:ext cx="1213415"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pic>
        <p:nvPicPr>
          <p:cNvPr id="311" name="Google Shape;311;g3a2096760fb_0_126"/>
          <p:cNvPicPr preferRelativeResize="0"/>
          <p:nvPr/>
        </p:nvPicPr>
        <p:blipFill>
          <a:blip r:embed="rId4">
            <a:alphaModFix/>
          </a:blip>
          <a:stretch>
            <a:fillRect/>
          </a:stretch>
        </p:blipFill>
        <p:spPr>
          <a:xfrm>
            <a:off x="314376" y="1478200"/>
            <a:ext cx="8400498" cy="4483337"/>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pic>
        <p:nvPicPr>
          <p:cNvPr id="317" name="Google Shape;317;g3a2096760fb_0_68"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318" name="Google Shape;318;g3a2096760fb_0_68"/>
          <p:cNvSpPr/>
          <p:nvPr/>
        </p:nvSpPr>
        <p:spPr>
          <a:xfrm>
            <a:off x="4572000" y="6164493"/>
            <a:ext cx="4536000" cy="216000"/>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9" name="Google Shape;319;g3a2096760fb_0_68"/>
          <p:cNvSpPr/>
          <p:nvPr/>
        </p:nvSpPr>
        <p:spPr>
          <a:xfrm>
            <a:off x="36000" y="6164493"/>
            <a:ext cx="4536000" cy="216000"/>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 name="Google Shape;320;g3a2096760fb_0_68"/>
          <p:cNvSpPr/>
          <p:nvPr/>
        </p:nvSpPr>
        <p:spPr>
          <a:xfrm>
            <a:off x="-10211" y="1305294"/>
            <a:ext cx="9164400" cy="4247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u="sng">
                <a:solidFill>
                  <a:srgbClr val="D9B300"/>
                </a:solidFill>
                <a:latin typeface="Calibri"/>
                <a:ea typeface="Calibri"/>
                <a:cs typeface="Calibri"/>
                <a:sym typeface="Calibri"/>
              </a:rPr>
              <a:t>2. Intégrer une segmentation dynamique des clients (clients premium, réguliers, inactifs)</a:t>
            </a:r>
            <a:r>
              <a:rPr lang="fr-FR" sz="1800" b="1">
                <a:solidFill>
                  <a:srgbClr val="D9B300"/>
                </a:solidFill>
                <a:latin typeface="Calibri"/>
                <a:ea typeface="Calibri"/>
                <a:cs typeface="Calibri"/>
                <a:sym typeface="Calibri"/>
              </a:rPr>
              <a:t> :</a:t>
            </a:r>
            <a:endParaRPr sz="1800" b="1">
              <a:solidFill>
                <a:srgbClr val="D9B300"/>
              </a:solidFill>
              <a:latin typeface="Calibri"/>
              <a:ea typeface="Calibri"/>
              <a:cs typeface="Calibri"/>
              <a:sym typeface="Calibri"/>
            </a:endParaRPr>
          </a:p>
          <a:p>
            <a:pPr marL="0" marR="0" lvl="0" indent="0" algn="l" rtl="0">
              <a:spcBef>
                <a:spcPts val="0"/>
              </a:spcBef>
              <a:spcAft>
                <a:spcPts val="0"/>
              </a:spcAft>
              <a:buNone/>
            </a:pPr>
            <a:endParaRPr sz="1800" b="1">
              <a:solidFill>
                <a:srgbClr val="D9B300"/>
              </a:solidFill>
              <a:latin typeface="Calibri"/>
              <a:ea typeface="Calibri"/>
              <a:cs typeface="Calibri"/>
              <a:sym typeface="Calibri"/>
            </a:endParaRPr>
          </a:p>
          <a:p>
            <a:pPr marL="0" marR="0" lvl="0" indent="0" algn="l" rtl="0">
              <a:spcBef>
                <a:spcPts val="0"/>
              </a:spcBef>
              <a:spcAft>
                <a:spcPts val="0"/>
              </a:spcAft>
              <a:buNone/>
            </a:pPr>
            <a:r>
              <a:rPr lang="fr-FR" sz="1800">
                <a:solidFill>
                  <a:schemeClr val="dk2"/>
                </a:solidFill>
                <a:latin typeface="Calibri"/>
                <a:ea typeface="Calibri"/>
                <a:cs typeface="Calibri"/>
                <a:sym typeface="Calibri"/>
              </a:rPr>
              <a:t>L’objectif de cette étape est d'analyser le niveau d’activité des clients afin de mieux comprendre leurs comportements bancaires.</a:t>
            </a:r>
            <a:endParaRPr sz="1800">
              <a:solidFill>
                <a:schemeClr val="dk2"/>
              </a:solidFill>
              <a:latin typeface="Calibri"/>
              <a:ea typeface="Calibri"/>
              <a:cs typeface="Calibri"/>
              <a:sym typeface="Calibri"/>
            </a:endParaRPr>
          </a:p>
          <a:p>
            <a:pPr marL="0" marR="0" lvl="0" indent="0" algn="l" rtl="0">
              <a:spcBef>
                <a:spcPts val="0"/>
              </a:spcBef>
              <a:spcAft>
                <a:spcPts val="0"/>
              </a:spcAft>
              <a:buNone/>
            </a:pPr>
            <a:r>
              <a:rPr lang="fr-FR" sz="1800">
                <a:solidFill>
                  <a:schemeClr val="dk2"/>
                </a:solidFill>
                <a:latin typeface="Calibri"/>
                <a:ea typeface="Calibri"/>
                <a:cs typeface="Calibri"/>
                <a:sym typeface="Calibri"/>
              </a:rPr>
              <a:t>Cette segmentation ne mesure pas directement la rentabilité, mais le degré d’engagement et de fréquence d’utilisation des services.</a:t>
            </a:r>
            <a:endParaRPr sz="1800">
              <a:solidFill>
                <a:schemeClr val="dk2"/>
              </a:solidFill>
              <a:latin typeface="Calibri"/>
              <a:ea typeface="Calibri"/>
              <a:cs typeface="Calibri"/>
              <a:sym typeface="Calibri"/>
            </a:endParaRPr>
          </a:p>
          <a:p>
            <a:pPr marL="0" marR="0" lvl="0" indent="0" algn="l" rtl="0">
              <a:spcBef>
                <a:spcPts val="0"/>
              </a:spcBef>
              <a:spcAft>
                <a:spcPts val="0"/>
              </a:spcAft>
              <a:buNone/>
            </a:pPr>
            <a:r>
              <a:rPr lang="fr-FR" sz="1800">
                <a:solidFill>
                  <a:schemeClr val="dk2"/>
                </a:solidFill>
                <a:latin typeface="Calibri"/>
                <a:ea typeface="Calibri"/>
                <a:cs typeface="Calibri"/>
                <a:sym typeface="Calibri"/>
              </a:rPr>
              <a:t>Elle permet ainsi de distinguer les clients très actifs, modérément actifs ou peu actifs, pour adapter les actions de suivi et de communication.</a:t>
            </a:r>
            <a:endParaRPr sz="1800">
              <a:solidFill>
                <a:schemeClr val="dk2"/>
              </a:solidFill>
              <a:latin typeface="Calibri"/>
              <a:ea typeface="Calibri"/>
              <a:cs typeface="Calibri"/>
              <a:sym typeface="Calibri"/>
            </a:endParaRPr>
          </a:p>
          <a:p>
            <a:pPr marL="0" marR="0" lvl="0" indent="0" algn="l" rtl="0">
              <a:spcBef>
                <a:spcPts val="0"/>
              </a:spcBef>
              <a:spcAft>
                <a:spcPts val="0"/>
              </a:spcAft>
              <a:buNone/>
            </a:pPr>
            <a:endParaRPr sz="1800">
              <a:solidFill>
                <a:schemeClr val="dk2"/>
              </a:solidFill>
              <a:latin typeface="Calibri"/>
              <a:ea typeface="Calibri"/>
              <a:cs typeface="Calibri"/>
              <a:sym typeface="Calibri"/>
            </a:endParaRPr>
          </a:p>
          <a:p>
            <a:pPr marL="0" marR="0" lvl="0" indent="0" algn="l" rtl="0">
              <a:spcBef>
                <a:spcPts val="0"/>
              </a:spcBef>
              <a:spcAft>
                <a:spcPts val="0"/>
              </a:spcAft>
              <a:buNone/>
            </a:pPr>
            <a:r>
              <a:rPr lang="fr-FR" sz="1800">
                <a:solidFill>
                  <a:schemeClr val="dk2"/>
                </a:solidFill>
                <a:latin typeface="Calibri"/>
                <a:ea typeface="Calibri"/>
                <a:cs typeface="Calibri"/>
                <a:sym typeface="Calibri"/>
              </a:rPr>
              <a:t>Pour faire ceci, nous avons créer des nouvelles mesures et une nouvelle table.</a:t>
            </a:r>
            <a:endParaRPr sz="1800">
              <a:solidFill>
                <a:schemeClr val="dk2"/>
              </a:solidFill>
              <a:latin typeface="Calibri"/>
              <a:ea typeface="Calibri"/>
              <a:cs typeface="Calibri"/>
              <a:sym typeface="Calibri"/>
            </a:endParaRPr>
          </a:p>
        </p:txBody>
      </p:sp>
      <p:sp>
        <p:nvSpPr>
          <p:cNvPr id="321" name="Google Shape;321;g3a2096760fb_0_68"/>
          <p:cNvSpPr/>
          <p:nvPr/>
        </p:nvSpPr>
        <p:spPr>
          <a:xfrm>
            <a:off x="7788408" y="6453377"/>
            <a:ext cx="13197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322" name="Google Shape;322;g3a2096760fb_0_68"/>
          <p:cNvSpPr txBox="1">
            <a:spLocks noGrp="1"/>
          </p:cNvSpPr>
          <p:nvPr>
            <p:ph type="sldNum" idx="12"/>
          </p:nvPr>
        </p:nvSpPr>
        <p:spPr>
          <a:xfrm>
            <a:off x="4572000" y="6448251"/>
            <a:ext cx="792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15</a:t>
            </a:fld>
            <a:endParaRPr sz="2400" b="1">
              <a:solidFill>
                <a:srgbClr val="D9B300"/>
              </a:solidFill>
            </a:endParaRPr>
          </a:p>
        </p:txBody>
      </p:sp>
      <p:sp>
        <p:nvSpPr>
          <p:cNvPr id="323" name="Google Shape;323;g3a2096760fb_0_68"/>
          <p:cNvSpPr txBox="1"/>
          <p:nvPr/>
        </p:nvSpPr>
        <p:spPr>
          <a:xfrm>
            <a:off x="3324314" y="6448251"/>
            <a:ext cx="1247598"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329" name="Google Shape;329;g3a2096760fb_0_80"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330" name="Google Shape;330;g3a2096760fb_0_80"/>
          <p:cNvSpPr/>
          <p:nvPr/>
        </p:nvSpPr>
        <p:spPr>
          <a:xfrm>
            <a:off x="4572000" y="6164493"/>
            <a:ext cx="4536000" cy="216000"/>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 name="Google Shape;331;g3a2096760fb_0_80"/>
          <p:cNvSpPr/>
          <p:nvPr/>
        </p:nvSpPr>
        <p:spPr>
          <a:xfrm>
            <a:off x="36000" y="6164493"/>
            <a:ext cx="4536000" cy="216000"/>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2" name="Google Shape;332;g3a2096760fb_0_80"/>
          <p:cNvSpPr/>
          <p:nvPr/>
        </p:nvSpPr>
        <p:spPr>
          <a:xfrm>
            <a:off x="167775" y="1226875"/>
            <a:ext cx="5893200" cy="46971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800"/>
              </a:spcBef>
              <a:spcAft>
                <a:spcPts val="0"/>
              </a:spcAft>
              <a:buSzPts val="1100"/>
              <a:buNone/>
            </a:pPr>
            <a:r>
              <a:rPr lang="fr-FR" sz="1100" b="1">
                <a:solidFill>
                  <a:schemeClr val="dk2"/>
                </a:solidFill>
                <a:latin typeface="Calibri"/>
                <a:ea typeface="Calibri"/>
                <a:cs typeface="Calibri"/>
                <a:sym typeface="Calibri"/>
              </a:rPr>
              <a:t>Construction de la Table_Segmentation : </a:t>
            </a:r>
            <a:endParaRPr sz="1100" b="1">
              <a:solidFill>
                <a:schemeClr val="dk2"/>
              </a:solidFill>
              <a:latin typeface="Calibri"/>
              <a:ea typeface="Calibri"/>
              <a:cs typeface="Calibri"/>
              <a:sym typeface="Calibri"/>
            </a:endParaRPr>
          </a:p>
          <a:p>
            <a:pPr marL="0" lvl="0" indent="0" algn="l" rtl="0">
              <a:lnSpc>
                <a:spcPct val="115000"/>
              </a:lnSpc>
              <a:spcBef>
                <a:spcPts val="1200"/>
              </a:spcBef>
              <a:spcAft>
                <a:spcPts val="0"/>
              </a:spcAft>
              <a:buSzPts val="1100"/>
              <a:buNone/>
            </a:pPr>
            <a:r>
              <a:rPr lang="fr-FR" sz="1100">
                <a:solidFill>
                  <a:schemeClr val="dk2"/>
                </a:solidFill>
                <a:latin typeface="Calibri"/>
                <a:ea typeface="Calibri"/>
                <a:cs typeface="Calibri"/>
                <a:sym typeface="Calibri"/>
              </a:rPr>
              <a:t>La table </a:t>
            </a:r>
            <a:r>
              <a:rPr lang="fr-FR" sz="1100" b="1">
                <a:solidFill>
                  <a:schemeClr val="dk2"/>
                </a:solidFill>
                <a:latin typeface="Calibri"/>
                <a:ea typeface="Calibri"/>
                <a:cs typeface="Calibri"/>
                <a:sym typeface="Calibri"/>
              </a:rPr>
              <a:t>Table_Segmentation</a:t>
            </a:r>
            <a:r>
              <a:rPr lang="fr-FR" sz="1100">
                <a:solidFill>
                  <a:schemeClr val="dk2"/>
                </a:solidFill>
                <a:latin typeface="Calibri"/>
                <a:ea typeface="Calibri"/>
                <a:cs typeface="Calibri"/>
                <a:sym typeface="Calibri"/>
              </a:rPr>
              <a:t> a été générée dans Power BI à l’aide d’une formule DAX permettant de regrouper les clients selon leur niveau d’activité financière.</a:t>
            </a:r>
            <a:endParaRPr sz="1100" b="1">
              <a:solidFill>
                <a:schemeClr val="dk2"/>
              </a:solidFill>
              <a:latin typeface="Calibri"/>
              <a:ea typeface="Calibri"/>
              <a:cs typeface="Calibri"/>
              <a:sym typeface="Calibri"/>
            </a:endParaRPr>
          </a:p>
          <a:p>
            <a:pPr marL="457200" lvl="0" indent="-298450" algn="l" rtl="0">
              <a:spcBef>
                <a:spcPts val="1200"/>
              </a:spcBef>
              <a:spcAft>
                <a:spcPts val="0"/>
              </a:spcAft>
              <a:buClr>
                <a:schemeClr val="dk2"/>
              </a:buClr>
              <a:buSzPts val="1100"/>
              <a:buFont typeface="Calibri"/>
              <a:buChar char="-"/>
            </a:pPr>
            <a:r>
              <a:rPr lang="fr-FR" sz="1100" b="1">
                <a:solidFill>
                  <a:schemeClr val="dk2"/>
                </a:solidFill>
                <a:latin typeface="Calibri"/>
                <a:ea typeface="Calibri"/>
                <a:cs typeface="Calibri"/>
                <a:sym typeface="Calibri"/>
              </a:rPr>
              <a:t>id_client</a:t>
            </a:r>
            <a:r>
              <a:rPr lang="fr-FR" sz="1100">
                <a:solidFill>
                  <a:schemeClr val="dk2"/>
                </a:solidFill>
                <a:latin typeface="Calibri"/>
                <a:ea typeface="Calibri"/>
                <a:cs typeface="Calibri"/>
                <a:sym typeface="Calibri"/>
              </a:rPr>
              <a:t> : identifiant unique de chaque client.</a:t>
            </a:r>
            <a:br>
              <a:rPr lang="fr-FR" sz="1100">
                <a:solidFill>
                  <a:schemeClr val="dk2"/>
                </a:solidFill>
                <a:latin typeface="Calibri"/>
                <a:ea typeface="Calibri"/>
                <a:cs typeface="Calibri"/>
                <a:sym typeface="Calibri"/>
              </a:rPr>
            </a:br>
            <a:endParaRPr sz="1100">
              <a:solidFill>
                <a:schemeClr val="dk2"/>
              </a:solidFill>
              <a:latin typeface="Calibri"/>
              <a:ea typeface="Calibri"/>
              <a:cs typeface="Calibri"/>
              <a:sym typeface="Calibri"/>
            </a:endParaRPr>
          </a:p>
          <a:p>
            <a:pPr marL="457200" lvl="0" indent="-298450" algn="l" rtl="0">
              <a:spcBef>
                <a:spcPts val="0"/>
              </a:spcBef>
              <a:spcAft>
                <a:spcPts val="0"/>
              </a:spcAft>
              <a:buClr>
                <a:schemeClr val="dk2"/>
              </a:buClr>
              <a:buSzPts val="1100"/>
              <a:buFont typeface="Calibri"/>
              <a:buChar char="-"/>
            </a:pPr>
            <a:r>
              <a:rPr lang="fr-FR" sz="1100" b="1">
                <a:solidFill>
                  <a:schemeClr val="dk2"/>
                </a:solidFill>
                <a:latin typeface="Calibri"/>
                <a:ea typeface="Calibri"/>
                <a:cs typeface="Calibri"/>
                <a:sym typeface="Calibri"/>
              </a:rPr>
              <a:t>ville_client</a:t>
            </a:r>
            <a:r>
              <a:rPr lang="fr-FR" sz="1100">
                <a:solidFill>
                  <a:schemeClr val="dk2"/>
                </a:solidFill>
                <a:latin typeface="Calibri"/>
                <a:ea typeface="Calibri"/>
                <a:cs typeface="Calibri"/>
                <a:sym typeface="Calibri"/>
              </a:rPr>
              <a:t> : localisation du client (ville de rattachement).</a:t>
            </a:r>
            <a:br>
              <a:rPr lang="fr-FR" sz="1100">
                <a:solidFill>
                  <a:schemeClr val="dk2"/>
                </a:solidFill>
                <a:latin typeface="Calibri"/>
                <a:ea typeface="Calibri"/>
                <a:cs typeface="Calibri"/>
                <a:sym typeface="Calibri"/>
              </a:rPr>
            </a:br>
            <a:endParaRPr sz="1100">
              <a:solidFill>
                <a:schemeClr val="dk2"/>
              </a:solidFill>
              <a:latin typeface="Calibri"/>
              <a:ea typeface="Calibri"/>
              <a:cs typeface="Calibri"/>
              <a:sym typeface="Calibri"/>
            </a:endParaRPr>
          </a:p>
          <a:p>
            <a:pPr marL="457200" lvl="0" indent="-298450" algn="l" rtl="0">
              <a:spcBef>
                <a:spcPts val="0"/>
              </a:spcBef>
              <a:spcAft>
                <a:spcPts val="0"/>
              </a:spcAft>
              <a:buClr>
                <a:schemeClr val="dk2"/>
              </a:buClr>
              <a:buSzPts val="1100"/>
              <a:buFont typeface="Calibri"/>
              <a:buChar char="-"/>
            </a:pPr>
            <a:r>
              <a:rPr lang="fr-FR" sz="1100" b="1">
                <a:solidFill>
                  <a:schemeClr val="dk2"/>
                </a:solidFill>
                <a:latin typeface="Calibri"/>
                <a:ea typeface="Calibri"/>
                <a:cs typeface="Calibri"/>
                <a:sym typeface="Calibri"/>
              </a:rPr>
              <a:t>Nb_Transactions</a:t>
            </a:r>
            <a:r>
              <a:rPr lang="fr-FR" sz="1100">
                <a:solidFill>
                  <a:schemeClr val="dk2"/>
                </a:solidFill>
                <a:latin typeface="Calibri"/>
                <a:ea typeface="Calibri"/>
                <a:cs typeface="Calibri"/>
                <a:sym typeface="Calibri"/>
              </a:rPr>
              <a:t> : nombre total de transactions effectuées (COUNT(id_transaction)).</a:t>
            </a:r>
            <a:br>
              <a:rPr lang="fr-FR" sz="1100">
                <a:solidFill>
                  <a:schemeClr val="dk2"/>
                </a:solidFill>
                <a:latin typeface="Calibri"/>
                <a:ea typeface="Calibri"/>
                <a:cs typeface="Calibri"/>
                <a:sym typeface="Calibri"/>
              </a:rPr>
            </a:br>
            <a:endParaRPr sz="1100">
              <a:solidFill>
                <a:schemeClr val="dk2"/>
              </a:solidFill>
              <a:latin typeface="Calibri"/>
              <a:ea typeface="Calibri"/>
              <a:cs typeface="Calibri"/>
              <a:sym typeface="Calibri"/>
            </a:endParaRPr>
          </a:p>
          <a:p>
            <a:pPr marL="457200" lvl="0" indent="-298450" algn="l" rtl="0">
              <a:spcBef>
                <a:spcPts val="0"/>
              </a:spcBef>
              <a:spcAft>
                <a:spcPts val="0"/>
              </a:spcAft>
              <a:buClr>
                <a:schemeClr val="dk2"/>
              </a:buClr>
              <a:buSzPts val="1100"/>
              <a:buFont typeface="Calibri"/>
              <a:buChar char="-"/>
            </a:pPr>
            <a:r>
              <a:rPr lang="fr-FR" sz="1100" b="1">
                <a:solidFill>
                  <a:schemeClr val="dk2"/>
                </a:solidFill>
                <a:latin typeface="Calibri"/>
                <a:ea typeface="Calibri"/>
                <a:cs typeface="Calibri"/>
                <a:sym typeface="Calibri"/>
              </a:rPr>
              <a:t>Montant_Total</a:t>
            </a:r>
            <a:r>
              <a:rPr lang="fr-FR" sz="1100">
                <a:solidFill>
                  <a:schemeClr val="dk2"/>
                </a:solidFill>
                <a:latin typeface="Calibri"/>
                <a:ea typeface="Calibri"/>
                <a:cs typeface="Calibri"/>
                <a:sym typeface="Calibri"/>
              </a:rPr>
              <a:t> : somme totale des montants de transactions (SUM(montant_transaction)).</a:t>
            </a:r>
            <a:br>
              <a:rPr lang="fr-FR" sz="1100">
                <a:solidFill>
                  <a:schemeClr val="dk2"/>
                </a:solidFill>
                <a:latin typeface="Calibri"/>
                <a:ea typeface="Calibri"/>
                <a:cs typeface="Calibri"/>
                <a:sym typeface="Calibri"/>
              </a:rPr>
            </a:br>
            <a:endParaRPr sz="1100">
              <a:solidFill>
                <a:schemeClr val="dk2"/>
              </a:solidFill>
              <a:latin typeface="Calibri"/>
              <a:ea typeface="Calibri"/>
              <a:cs typeface="Calibri"/>
              <a:sym typeface="Calibri"/>
            </a:endParaRPr>
          </a:p>
          <a:p>
            <a:pPr marL="457200" lvl="0" indent="-298450" algn="l" rtl="0">
              <a:spcBef>
                <a:spcPts val="0"/>
              </a:spcBef>
              <a:spcAft>
                <a:spcPts val="0"/>
              </a:spcAft>
              <a:buClr>
                <a:schemeClr val="dk2"/>
              </a:buClr>
              <a:buSzPts val="1100"/>
              <a:buFont typeface="Calibri"/>
              <a:buChar char="-"/>
            </a:pPr>
            <a:r>
              <a:rPr lang="fr-FR" sz="1100" b="1">
                <a:solidFill>
                  <a:schemeClr val="dk2"/>
                </a:solidFill>
                <a:latin typeface="Calibri"/>
                <a:ea typeface="Calibri"/>
                <a:cs typeface="Calibri"/>
                <a:sym typeface="Calibri"/>
              </a:rPr>
              <a:t>Segment</a:t>
            </a:r>
            <a:r>
              <a:rPr lang="fr-FR" sz="1100">
                <a:solidFill>
                  <a:schemeClr val="dk2"/>
                </a:solidFill>
                <a:latin typeface="Calibri"/>
                <a:ea typeface="Calibri"/>
                <a:cs typeface="Calibri"/>
                <a:sym typeface="Calibri"/>
              </a:rPr>
              <a:t> : catégorie du client, calculée automatiquement à l’aide d’un </a:t>
            </a:r>
            <a:r>
              <a:rPr lang="fr-FR" sz="1100" b="1">
                <a:solidFill>
                  <a:schemeClr val="dk2"/>
                </a:solidFill>
                <a:latin typeface="Calibri"/>
                <a:ea typeface="Calibri"/>
                <a:cs typeface="Calibri"/>
                <a:sym typeface="Calibri"/>
              </a:rPr>
              <a:t>SWITCH(TRUE())</a:t>
            </a:r>
            <a:r>
              <a:rPr lang="fr-FR" sz="1100">
                <a:solidFill>
                  <a:schemeClr val="dk2"/>
                </a:solidFill>
                <a:latin typeface="Calibri"/>
                <a:ea typeface="Calibri"/>
                <a:cs typeface="Calibri"/>
                <a:sym typeface="Calibri"/>
              </a:rPr>
              <a:t>, selon le total des montants :</a:t>
            </a:r>
            <a:br>
              <a:rPr lang="fr-FR" sz="1100">
                <a:solidFill>
                  <a:schemeClr val="dk2"/>
                </a:solidFill>
                <a:latin typeface="Calibri"/>
                <a:ea typeface="Calibri"/>
                <a:cs typeface="Calibri"/>
                <a:sym typeface="Calibri"/>
              </a:rPr>
            </a:br>
            <a:r>
              <a:rPr lang="fr-FR" sz="1100">
                <a:solidFill>
                  <a:schemeClr val="dk2"/>
                </a:solidFill>
                <a:latin typeface="Calibri"/>
                <a:ea typeface="Calibri"/>
                <a:cs typeface="Calibri"/>
                <a:sym typeface="Calibri"/>
              </a:rPr>
              <a:t/>
            </a:r>
            <a:br>
              <a:rPr lang="fr-FR" sz="1100">
                <a:solidFill>
                  <a:schemeClr val="dk2"/>
                </a:solidFill>
                <a:latin typeface="Calibri"/>
                <a:ea typeface="Calibri"/>
                <a:cs typeface="Calibri"/>
                <a:sym typeface="Calibri"/>
              </a:rPr>
            </a:br>
            <a:r>
              <a:rPr lang="fr-FR" sz="1100">
                <a:solidFill>
                  <a:schemeClr val="dk2"/>
                </a:solidFill>
                <a:latin typeface="Calibri"/>
                <a:ea typeface="Calibri"/>
                <a:cs typeface="Calibri"/>
                <a:sym typeface="Calibri"/>
              </a:rPr>
              <a:t> Si Montant_Total ≥ 15 000 → "Premium"</a:t>
            </a:r>
            <a:endParaRPr sz="1100">
              <a:solidFill>
                <a:schemeClr val="dk2"/>
              </a:solidFill>
              <a:latin typeface="Calibri"/>
              <a:ea typeface="Calibri"/>
              <a:cs typeface="Calibri"/>
              <a:sym typeface="Calibri"/>
            </a:endParaRPr>
          </a:p>
          <a:p>
            <a:pPr marL="0" lvl="0" indent="457200" algn="l" rtl="0">
              <a:spcBef>
                <a:spcPts val="0"/>
              </a:spcBef>
              <a:spcAft>
                <a:spcPts val="0"/>
              </a:spcAft>
              <a:buNone/>
            </a:pPr>
            <a:r>
              <a:rPr lang="fr-FR" sz="1100">
                <a:solidFill>
                  <a:schemeClr val="dk2"/>
                </a:solidFill>
                <a:latin typeface="Calibri"/>
                <a:ea typeface="Calibri"/>
                <a:cs typeface="Calibri"/>
                <a:sym typeface="Calibri"/>
              </a:rPr>
              <a:t>Si Montant_Total ≥ 3 000 → "Régulier"</a:t>
            </a:r>
            <a:endParaRPr sz="1100">
              <a:solidFill>
                <a:schemeClr val="dk2"/>
              </a:solidFill>
              <a:latin typeface="Calibri"/>
              <a:ea typeface="Calibri"/>
              <a:cs typeface="Calibri"/>
              <a:sym typeface="Calibri"/>
            </a:endParaRPr>
          </a:p>
          <a:p>
            <a:pPr marL="0" lvl="0" indent="457200" algn="l" rtl="0">
              <a:spcBef>
                <a:spcPts val="0"/>
              </a:spcBef>
              <a:spcAft>
                <a:spcPts val="0"/>
              </a:spcAft>
              <a:buClr>
                <a:schemeClr val="dk1"/>
              </a:buClr>
              <a:buSzPts val="1100"/>
              <a:buFont typeface="Arial"/>
              <a:buNone/>
            </a:pPr>
            <a:r>
              <a:rPr lang="fr-FR" sz="1100">
                <a:solidFill>
                  <a:schemeClr val="dk2"/>
                </a:solidFill>
                <a:latin typeface="Calibri"/>
                <a:ea typeface="Calibri"/>
                <a:cs typeface="Calibri"/>
                <a:sym typeface="Calibri"/>
              </a:rPr>
              <a:t>Sinon → "Inactif"</a:t>
            </a:r>
            <a:endParaRPr sz="1100">
              <a:solidFill>
                <a:schemeClr val="dk2"/>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fr-FR" sz="1100">
                <a:solidFill>
                  <a:schemeClr val="dk2"/>
                </a:solidFill>
                <a:latin typeface="Calibri"/>
                <a:ea typeface="Calibri"/>
                <a:cs typeface="Calibri"/>
                <a:sym typeface="Calibri"/>
              </a:rPr>
              <a:t>Cette table permet de :</a:t>
            </a:r>
            <a:endParaRPr sz="1100">
              <a:solidFill>
                <a:schemeClr val="dk2"/>
              </a:solidFill>
              <a:latin typeface="Calibri"/>
              <a:ea typeface="Calibri"/>
              <a:cs typeface="Calibri"/>
              <a:sym typeface="Calibri"/>
            </a:endParaRPr>
          </a:p>
          <a:p>
            <a:pPr marL="457200" lvl="0" indent="-298450" algn="l" rtl="0">
              <a:lnSpc>
                <a:spcPct val="115000"/>
              </a:lnSpc>
              <a:spcBef>
                <a:spcPts val="1200"/>
              </a:spcBef>
              <a:spcAft>
                <a:spcPts val="0"/>
              </a:spcAft>
              <a:buClr>
                <a:schemeClr val="dk2"/>
              </a:buClr>
              <a:buSzPts val="1100"/>
              <a:buChar char="●"/>
            </a:pPr>
            <a:r>
              <a:rPr lang="fr-FR" sz="1100" b="1">
                <a:solidFill>
                  <a:schemeClr val="dk2"/>
                </a:solidFill>
                <a:latin typeface="Calibri"/>
                <a:ea typeface="Calibri"/>
                <a:cs typeface="Calibri"/>
                <a:sym typeface="Calibri"/>
              </a:rPr>
              <a:t>classer les clients</a:t>
            </a:r>
            <a:r>
              <a:rPr lang="fr-FR" sz="1100">
                <a:solidFill>
                  <a:schemeClr val="dk2"/>
                </a:solidFill>
                <a:latin typeface="Calibri"/>
                <a:ea typeface="Calibri"/>
                <a:cs typeface="Calibri"/>
                <a:sym typeface="Calibri"/>
              </a:rPr>
              <a:t> selon leur activité transactionnelle ;</a:t>
            </a:r>
            <a:endParaRPr sz="1100">
              <a:solidFill>
                <a:schemeClr val="dk2"/>
              </a:solidFill>
              <a:latin typeface="Calibri"/>
              <a:ea typeface="Calibri"/>
              <a:cs typeface="Calibri"/>
              <a:sym typeface="Calibri"/>
            </a:endParaRPr>
          </a:p>
          <a:p>
            <a:pPr marL="457200" lvl="0" indent="-298450" algn="l" rtl="0">
              <a:lnSpc>
                <a:spcPct val="115000"/>
              </a:lnSpc>
              <a:spcBef>
                <a:spcPts val="0"/>
              </a:spcBef>
              <a:spcAft>
                <a:spcPts val="0"/>
              </a:spcAft>
              <a:buClr>
                <a:schemeClr val="dk2"/>
              </a:buClr>
              <a:buSzPts val="1100"/>
              <a:buChar char="●"/>
            </a:pPr>
            <a:r>
              <a:rPr lang="fr-FR" sz="1100" b="1">
                <a:solidFill>
                  <a:schemeClr val="dk2"/>
                </a:solidFill>
                <a:latin typeface="Calibri"/>
                <a:ea typeface="Calibri"/>
                <a:cs typeface="Calibri"/>
                <a:sym typeface="Calibri"/>
              </a:rPr>
              <a:t>observer la répartition géographique</a:t>
            </a:r>
            <a:r>
              <a:rPr lang="fr-FR" sz="1100">
                <a:solidFill>
                  <a:schemeClr val="dk2"/>
                </a:solidFill>
                <a:latin typeface="Calibri"/>
                <a:ea typeface="Calibri"/>
                <a:cs typeface="Calibri"/>
                <a:sym typeface="Calibri"/>
              </a:rPr>
              <a:t> des profils (par ville) ;</a:t>
            </a:r>
            <a:endParaRPr sz="1100">
              <a:solidFill>
                <a:schemeClr val="dk2"/>
              </a:solidFill>
              <a:latin typeface="Calibri"/>
              <a:ea typeface="Calibri"/>
              <a:cs typeface="Calibri"/>
              <a:sym typeface="Calibri"/>
            </a:endParaRPr>
          </a:p>
          <a:p>
            <a:pPr marL="457200" lvl="0" indent="-298450" algn="l" rtl="0">
              <a:lnSpc>
                <a:spcPct val="115000"/>
              </a:lnSpc>
              <a:spcBef>
                <a:spcPts val="0"/>
              </a:spcBef>
              <a:spcAft>
                <a:spcPts val="0"/>
              </a:spcAft>
              <a:buClr>
                <a:schemeClr val="dk2"/>
              </a:buClr>
              <a:buSzPts val="1100"/>
              <a:buChar char="●"/>
            </a:pPr>
            <a:r>
              <a:rPr lang="fr-FR" sz="1100">
                <a:solidFill>
                  <a:schemeClr val="dk2"/>
                </a:solidFill>
                <a:latin typeface="Calibri"/>
                <a:ea typeface="Calibri"/>
                <a:cs typeface="Calibri"/>
                <a:sym typeface="Calibri"/>
              </a:rPr>
              <a:t>et </a:t>
            </a:r>
            <a:r>
              <a:rPr lang="fr-FR" sz="1100" b="1">
                <a:solidFill>
                  <a:schemeClr val="dk2"/>
                </a:solidFill>
                <a:latin typeface="Calibri"/>
                <a:ea typeface="Calibri"/>
                <a:cs typeface="Calibri"/>
                <a:sym typeface="Calibri"/>
              </a:rPr>
              <a:t>comparer dynamiquement les comportements</a:t>
            </a:r>
            <a:r>
              <a:rPr lang="fr-FR" sz="1100">
                <a:solidFill>
                  <a:schemeClr val="dk2"/>
                </a:solidFill>
                <a:latin typeface="Calibri"/>
                <a:ea typeface="Calibri"/>
                <a:cs typeface="Calibri"/>
                <a:sym typeface="Calibri"/>
              </a:rPr>
              <a:t> via les filtres interactifs dans Power BI.</a:t>
            </a:r>
            <a:endParaRPr sz="1100">
              <a:solidFill>
                <a:schemeClr val="dk2"/>
              </a:solidFill>
              <a:latin typeface="Calibri"/>
              <a:ea typeface="Calibri"/>
              <a:cs typeface="Calibri"/>
              <a:sym typeface="Calibri"/>
            </a:endParaRPr>
          </a:p>
          <a:p>
            <a:pPr marL="0" lvl="0" indent="0" algn="l" rtl="0">
              <a:spcBef>
                <a:spcPts val="1200"/>
              </a:spcBef>
              <a:spcAft>
                <a:spcPts val="0"/>
              </a:spcAft>
              <a:buNone/>
            </a:pPr>
            <a:endParaRPr sz="1100">
              <a:solidFill>
                <a:schemeClr val="dk2"/>
              </a:solidFill>
              <a:latin typeface="Calibri"/>
              <a:ea typeface="Calibri"/>
              <a:cs typeface="Calibri"/>
              <a:sym typeface="Calibri"/>
            </a:endParaRPr>
          </a:p>
        </p:txBody>
      </p:sp>
      <p:sp>
        <p:nvSpPr>
          <p:cNvPr id="333" name="Google Shape;333;g3a2096760fb_0_80"/>
          <p:cNvSpPr/>
          <p:nvPr/>
        </p:nvSpPr>
        <p:spPr>
          <a:xfrm>
            <a:off x="7788408" y="6453377"/>
            <a:ext cx="13197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334" name="Google Shape;334;g3a2096760fb_0_80"/>
          <p:cNvSpPr txBox="1">
            <a:spLocks noGrp="1"/>
          </p:cNvSpPr>
          <p:nvPr>
            <p:ph type="sldNum" idx="12"/>
          </p:nvPr>
        </p:nvSpPr>
        <p:spPr>
          <a:xfrm>
            <a:off x="4572000" y="6448251"/>
            <a:ext cx="792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16</a:t>
            </a:fld>
            <a:endParaRPr sz="2400" b="1">
              <a:solidFill>
                <a:srgbClr val="D9B300"/>
              </a:solidFill>
            </a:endParaRPr>
          </a:p>
        </p:txBody>
      </p:sp>
      <p:sp>
        <p:nvSpPr>
          <p:cNvPr id="335" name="Google Shape;335;g3a2096760fb_0_80"/>
          <p:cNvSpPr txBox="1"/>
          <p:nvPr/>
        </p:nvSpPr>
        <p:spPr>
          <a:xfrm>
            <a:off x="2956845" y="6448251"/>
            <a:ext cx="1615067"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pic>
        <p:nvPicPr>
          <p:cNvPr id="336" name="Google Shape;336;g3a2096760fb_0_80"/>
          <p:cNvPicPr preferRelativeResize="0"/>
          <p:nvPr/>
        </p:nvPicPr>
        <p:blipFill>
          <a:blip r:embed="rId4">
            <a:alphaModFix/>
          </a:blip>
          <a:stretch>
            <a:fillRect/>
          </a:stretch>
        </p:blipFill>
        <p:spPr>
          <a:xfrm>
            <a:off x="6169575" y="1226875"/>
            <a:ext cx="2802100" cy="2837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pic>
        <p:nvPicPr>
          <p:cNvPr id="342" name="Google Shape;342;g3a2096760fb_0_139"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343" name="Google Shape;343;g3a2096760fb_0_139"/>
          <p:cNvSpPr/>
          <p:nvPr/>
        </p:nvSpPr>
        <p:spPr>
          <a:xfrm>
            <a:off x="4572000" y="6164493"/>
            <a:ext cx="4536000" cy="216000"/>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 name="Google Shape;344;g3a2096760fb_0_139"/>
          <p:cNvSpPr/>
          <p:nvPr/>
        </p:nvSpPr>
        <p:spPr>
          <a:xfrm>
            <a:off x="36000" y="6164493"/>
            <a:ext cx="4536000" cy="216000"/>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5" name="Google Shape;345;g3a2096760fb_0_139"/>
          <p:cNvSpPr/>
          <p:nvPr/>
        </p:nvSpPr>
        <p:spPr>
          <a:xfrm>
            <a:off x="241875" y="1033675"/>
            <a:ext cx="8545500" cy="369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b="1">
                <a:solidFill>
                  <a:schemeClr val="dk2"/>
                </a:solidFill>
                <a:latin typeface="Calibri"/>
                <a:ea typeface="Calibri"/>
                <a:cs typeface="Calibri"/>
                <a:sym typeface="Calibri"/>
              </a:rPr>
              <a:t>Aperçu du visuel : </a:t>
            </a:r>
            <a:endParaRPr b="1">
              <a:solidFill>
                <a:schemeClr val="dk2"/>
              </a:solidFill>
              <a:latin typeface="Calibri"/>
              <a:ea typeface="Calibri"/>
              <a:cs typeface="Calibri"/>
              <a:sym typeface="Calibri"/>
            </a:endParaRPr>
          </a:p>
        </p:txBody>
      </p:sp>
      <p:sp>
        <p:nvSpPr>
          <p:cNvPr id="346" name="Google Shape;346;g3a2096760fb_0_139"/>
          <p:cNvSpPr/>
          <p:nvPr/>
        </p:nvSpPr>
        <p:spPr>
          <a:xfrm>
            <a:off x="7788408" y="6453377"/>
            <a:ext cx="13197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347" name="Google Shape;347;g3a2096760fb_0_139"/>
          <p:cNvSpPr txBox="1">
            <a:spLocks noGrp="1"/>
          </p:cNvSpPr>
          <p:nvPr>
            <p:ph type="sldNum" idx="12"/>
          </p:nvPr>
        </p:nvSpPr>
        <p:spPr>
          <a:xfrm>
            <a:off x="4572000" y="6448251"/>
            <a:ext cx="792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17</a:t>
            </a:fld>
            <a:endParaRPr sz="2400" b="1">
              <a:solidFill>
                <a:srgbClr val="D9B300"/>
              </a:solidFill>
            </a:endParaRPr>
          </a:p>
        </p:txBody>
      </p:sp>
      <p:sp>
        <p:nvSpPr>
          <p:cNvPr id="348" name="Google Shape;348;g3a2096760fb_0_139"/>
          <p:cNvSpPr txBox="1"/>
          <p:nvPr/>
        </p:nvSpPr>
        <p:spPr>
          <a:xfrm>
            <a:off x="3486684" y="6448251"/>
            <a:ext cx="1085228"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pic>
        <p:nvPicPr>
          <p:cNvPr id="349" name="Google Shape;349;g3a2096760fb_0_139"/>
          <p:cNvPicPr preferRelativeResize="0"/>
          <p:nvPr/>
        </p:nvPicPr>
        <p:blipFill>
          <a:blip r:embed="rId4">
            <a:alphaModFix/>
          </a:blip>
          <a:stretch>
            <a:fillRect/>
          </a:stretch>
        </p:blipFill>
        <p:spPr>
          <a:xfrm>
            <a:off x="259550" y="1402975"/>
            <a:ext cx="8100543" cy="4609124"/>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pic>
        <p:nvPicPr>
          <p:cNvPr id="355" name="Google Shape;355;g3a2096760fb_0_96"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356" name="Google Shape;356;g3a2096760fb_0_96"/>
          <p:cNvSpPr/>
          <p:nvPr/>
        </p:nvSpPr>
        <p:spPr>
          <a:xfrm>
            <a:off x="4572000" y="6164493"/>
            <a:ext cx="4536000" cy="216000"/>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7" name="Google Shape;357;g3a2096760fb_0_96"/>
          <p:cNvSpPr/>
          <p:nvPr/>
        </p:nvSpPr>
        <p:spPr>
          <a:xfrm>
            <a:off x="36000" y="6164493"/>
            <a:ext cx="4536000" cy="216000"/>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8" name="Google Shape;358;g3a2096760fb_0_96"/>
          <p:cNvSpPr/>
          <p:nvPr/>
        </p:nvSpPr>
        <p:spPr>
          <a:xfrm>
            <a:off x="-10211" y="1216669"/>
            <a:ext cx="9164400" cy="4247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u="sng">
                <a:solidFill>
                  <a:srgbClr val="D9B300"/>
                </a:solidFill>
                <a:latin typeface="Calibri"/>
                <a:ea typeface="Calibri"/>
                <a:cs typeface="Calibri"/>
                <a:sym typeface="Calibri"/>
              </a:rPr>
              <a:t>3. Proposer des recommandations pour améliorer la rentabilité et la fidélisation.</a:t>
            </a:r>
            <a:r>
              <a:rPr lang="fr-FR" sz="1800" b="1">
                <a:solidFill>
                  <a:srgbClr val="D9B300"/>
                </a:solidFill>
                <a:latin typeface="Calibri"/>
                <a:ea typeface="Calibri"/>
                <a:cs typeface="Calibri"/>
                <a:sym typeface="Calibri"/>
              </a:rPr>
              <a:t> :</a:t>
            </a:r>
            <a:endParaRPr sz="1800" b="1">
              <a:solidFill>
                <a:srgbClr val="D9B300"/>
              </a:solidFill>
              <a:latin typeface="Calibri"/>
              <a:ea typeface="Calibri"/>
              <a:cs typeface="Calibri"/>
              <a:sym typeface="Calibri"/>
            </a:endParaRPr>
          </a:p>
          <a:p>
            <a:pPr marL="0" marR="0" lvl="0" indent="0" algn="l" rtl="0">
              <a:spcBef>
                <a:spcPts val="0"/>
              </a:spcBef>
              <a:spcAft>
                <a:spcPts val="0"/>
              </a:spcAft>
              <a:buNone/>
            </a:pPr>
            <a:endParaRPr sz="1800" b="1">
              <a:solidFill>
                <a:srgbClr val="D9B300"/>
              </a:solidFill>
              <a:latin typeface="Calibri"/>
              <a:ea typeface="Calibri"/>
              <a:cs typeface="Calibri"/>
              <a:sym typeface="Calibri"/>
            </a:endParaRPr>
          </a:p>
          <a:p>
            <a:pPr marL="0" marR="0" lvl="0" indent="0" algn="l" rtl="0">
              <a:spcBef>
                <a:spcPts val="0"/>
              </a:spcBef>
              <a:spcAft>
                <a:spcPts val="0"/>
              </a:spcAft>
              <a:buNone/>
            </a:pPr>
            <a:r>
              <a:rPr lang="fr-FR" sz="1800">
                <a:solidFill>
                  <a:schemeClr val="dk2"/>
                </a:solidFill>
                <a:latin typeface="Calibri"/>
                <a:ea typeface="Calibri"/>
                <a:cs typeface="Calibri"/>
                <a:sym typeface="Calibri"/>
              </a:rPr>
              <a:t>L’objectif de cette page est de croiser les résultats issus de l’analyse prédictive et de la segmentation client afin de formuler des recommandations concrètes pour la gestion du portefeuille clients.</a:t>
            </a:r>
            <a:endParaRPr sz="1800">
              <a:solidFill>
                <a:schemeClr val="dk2"/>
              </a:solidFill>
              <a:latin typeface="Calibri"/>
              <a:ea typeface="Calibri"/>
              <a:cs typeface="Calibri"/>
              <a:sym typeface="Calibri"/>
            </a:endParaRPr>
          </a:p>
          <a:p>
            <a:pPr marL="0" marR="0" lvl="0" indent="0" algn="l" rtl="0">
              <a:spcBef>
                <a:spcPts val="0"/>
              </a:spcBef>
              <a:spcAft>
                <a:spcPts val="0"/>
              </a:spcAft>
              <a:buNone/>
            </a:pPr>
            <a:r>
              <a:rPr lang="fr-FR" sz="1800">
                <a:solidFill>
                  <a:schemeClr val="dk2"/>
                </a:solidFill>
                <a:latin typeface="Calibri"/>
                <a:ea typeface="Calibri"/>
                <a:cs typeface="Calibri"/>
                <a:sym typeface="Calibri"/>
              </a:rPr>
              <a:t>Elle permet de repérer les profils les plus sûrs ou les plus risqués et d’orienter les actions de fidélisation ou de prévention des défauts.</a:t>
            </a:r>
            <a:endParaRPr sz="1800">
              <a:solidFill>
                <a:schemeClr val="dk2"/>
              </a:solidFill>
              <a:latin typeface="Calibri"/>
              <a:ea typeface="Calibri"/>
              <a:cs typeface="Calibri"/>
              <a:sym typeface="Calibri"/>
            </a:endParaRPr>
          </a:p>
          <a:p>
            <a:pPr marL="0" marR="0" lvl="0" indent="0" algn="l" rtl="0">
              <a:spcBef>
                <a:spcPts val="0"/>
              </a:spcBef>
              <a:spcAft>
                <a:spcPts val="0"/>
              </a:spcAft>
              <a:buNone/>
            </a:pPr>
            <a:endParaRPr sz="1800">
              <a:solidFill>
                <a:schemeClr val="dk2"/>
              </a:solidFill>
              <a:latin typeface="Calibri"/>
              <a:ea typeface="Calibri"/>
              <a:cs typeface="Calibri"/>
              <a:sym typeface="Calibri"/>
            </a:endParaRPr>
          </a:p>
          <a:p>
            <a:pPr marL="0" marR="0" lvl="0" indent="0" algn="l" rtl="0">
              <a:spcBef>
                <a:spcPts val="0"/>
              </a:spcBef>
              <a:spcAft>
                <a:spcPts val="0"/>
              </a:spcAft>
              <a:buNone/>
            </a:pPr>
            <a:r>
              <a:rPr lang="fr-FR" sz="1800">
                <a:solidFill>
                  <a:schemeClr val="dk2"/>
                </a:solidFill>
                <a:latin typeface="Calibri"/>
                <a:ea typeface="Calibri"/>
                <a:cs typeface="Calibri"/>
                <a:sym typeface="Calibri"/>
              </a:rPr>
              <a:t>Pour faire ceci, nous avons créer des nouvelles mesures et une nouvelle table.</a:t>
            </a:r>
            <a:endParaRPr sz="1800">
              <a:solidFill>
                <a:schemeClr val="dk2"/>
              </a:solidFill>
              <a:latin typeface="Calibri"/>
              <a:ea typeface="Calibri"/>
              <a:cs typeface="Calibri"/>
              <a:sym typeface="Calibri"/>
            </a:endParaRPr>
          </a:p>
          <a:p>
            <a:pPr marL="0" marR="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359" name="Google Shape;359;g3a2096760fb_0_96"/>
          <p:cNvSpPr/>
          <p:nvPr/>
        </p:nvSpPr>
        <p:spPr>
          <a:xfrm>
            <a:off x="7788408" y="6453377"/>
            <a:ext cx="13197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360" name="Google Shape;360;g3a2096760fb_0_96"/>
          <p:cNvSpPr txBox="1">
            <a:spLocks noGrp="1"/>
          </p:cNvSpPr>
          <p:nvPr>
            <p:ph type="sldNum" idx="12"/>
          </p:nvPr>
        </p:nvSpPr>
        <p:spPr>
          <a:xfrm>
            <a:off x="4572000" y="6448251"/>
            <a:ext cx="792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18</a:t>
            </a:fld>
            <a:endParaRPr sz="2400" b="1">
              <a:solidFill>
                <a:srgbClr val="D9B300"/>
              </a:solidFill>
            </a:endParaRPr>
          </a:p>
        </p:txBody>
      </p:sp>
      <p:sp>
        <p:nvSpPr>
          <p:cNvPr id="361" name="Google Shape;361;g3a2096760fb_0_96"/>
          <p:cNvSpPr txBox="1"/>
          <p:nvPr/>
        </p:nvSpPr>
        <p:spPr>
          <a:xfrm>
            <a:off x="3486684" y="6448251"/>
            <a:ext cx="1085228"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pic>
        <p:nvPicPr>
          <p:cNvPr id="367" name="Google Shape;367;g3a2096760fb_0_109"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368" name="Google Shape;368;g3a2096760fb_0_109"/>
          <p:cNvSpPr/>
          <p:nvPr/>
        </p:nvSpPr>
        <p:spPr>
          <a:xfrm>
            <a:off x="4572000" y="6164493"/>
            <a:ext cx="4536000" cy="216000"/>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9" name="Google Shape;369;g3a2096760fb_0_109"/>
          <p:cNvSpPr/>
          <p:nvPr/>
        </p:nvSpPr>
        <p:spPr>
          <a:xfrm>
            <a:off x="36000" y="6164493"/>
            <a:ext cx="4536000" cy="216000"/>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0" name="Google Shape;370;g3a2096760fb_0_109"/>
          <p:cNvSpPr/>
          <p:nvPr/>
        </p:nvSpPr>
        <p:spPr>
          <a:xfrm>
            <a:off x="241875" y="1305300"/>
            <a:ext cx="4536000" cy="4697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100">
                <a:solidFill>
                  <a:schemeClr val="dk2"/>
                </a:solidFill>
                <a:latin typeface="Calibri"/>
                <a:ea typeface="Calibri"/>
                <a:cs typeface="Calibri"/>
                <a:sym typeface="Calibri"/>
              </a:rPr>
              <a:t>Construction de la Table_Recommandation</a:t>
            </a:r>
            <a:endParaRPr sz="1100">
              <a:solidFill>
                <a:schemeClr val="dk2"/>
              </a:solidFill>
              <a:latin typeface="Calibri"/>
              <a:ea typeface="Calibri"/>
              <a:cs typeface="Calibri"/>
              <a:sym typeface="Calibri"/>
            </a:endParaRPr>
          </a:p>
          <a:p>
            <a:pPr marL="0" lvl="0" indent="0" algn="l" rtl="0">
              <a:spcBef>
                <a:spcPts val="0"/>
              </a:spcBef>
              <a:spcAft>
                <a:spcPts val="0"/>
              </a:spcAft>
              <a:buNone/>
            </a:pPr>
            <a:endParaRPr sz="1100">
              <a:solidFill>
                <a:schemeClr val="dk2"/>
              </a:solidFill>
              <a:latin typeface="Calibri"/>
              <a:ea typeface="Calibri"/>
              <a:cs typeface="Calibri"/>
              <a:sym typeface="Calibri"/>
            </a:endParaRPr>
          </a:p>
          <a:p>
            <a:pPr marL="0" lvl="0" indent="0" algn="l" rtl="0">
              <a:spcBef>
                <a:spcPts val="0"/>
              </a:spcBef>
              <a:spcAft>
                <a:spcPts val="0"/>
              </a:spcAft>
              <a:buNone/>
            </a:pPr>
            <a:r>
              <a:rPr lang="fr-FR" sz="1100">
                <a:solidFill>
                  <a:schemeClr val="dk2"/>
                </a:solidFill>
                <a:latin typeface="Calibri"/>
                <a:ea typeface="Calibri"/>
                <a:cs typeface="Calibri"/>
                <a:sym typeface="Calibri"/>
              </a:rPr>
              <a:t>La table </a:t>
            </a:r>
            <a:r>
              <a:rPr lang="fr-FR" sz="1100" b="1">
                <a:solidFill>
                  <a:schemeClr val="dk2"/>
                </a:solidFill>
                <a:latin typeface="Calibri"/>
                <a:ea typeface="Calibri"/>
                <a:cs typeface="Calibri"/>
                <a:sym typeface="Calibri"/>
              </a:rPr>
              <a:t>Table_Recommandation</a:t>
            </a:r>
            <a:r>
              <a:rPr lang="fr-FR" sz="1100">
                <a:solidFill>
                  <a:schemeClr val="dk2"/>
                </a:solidFill>
                <a:latin typeface="Calibri"/>
                <a:ea typeface="Calibri"/>
                <a:cs typeface="Calibri"/>
                <a:sym typeface="Calibri"/>
              </a:rPr>
              <a:t> a été créée en regroupant les informations clés issues des analyses précédentes :</a:t>
            </a:r>
            <a:endParaRPr sz="1100" b="1">
              <a:solidFill>
                <a:schemeClr val="dk2"/>
              </a:solidFill>
              <a:latin typeface="Calibri"/>
              <a:ea typeface="Calibri"/>
              <a:cs typeface="Calibri"/>
              <a:sym typeface="Calibri"/>
            </a:endParaRPr>
          </a:p>
          <a:p>
            <a:pPr marL="457200" lvl="0" indent="-298450" algn="l" rtl="0">
              <a:lnSpc>
                <a:spcPct val="115000"/>
              </a:lnSpc>
              <a:spcBef>
                <a:spcPts val="1200"/>
              </a:spcBef>
              <a:spcAft>
                <a:spcPts val="0"/>
              </a:spcAft>
              <a:buClr>
                <a:schemeClr val="dk2"/>
              </a:buClr>
              <a:buSzPts val="1100"/>
              <a:buChar char="●"/>
            </a:pPr>
            <a:r>
              <a:rPr lang="fr-FR" sz="1100" b="1">
                <a:solidFill>
                  <a:schemeClr val="dk2"/>
                </a:solidFill>
                <a:latin typeface="Calibri"/>
                <a:ea typeface="Calibri"/>
                <a:cs typeface="Calibri"/>
                <a:sym typeface="Calibri"/>
              </a:rPr>
              <a:t>id_client</a:t>
            </a:r>
            <a:r>
              <a:rPr lang="fr-FR" sz="1100">
                <a:solidFill>
                  <a:schemeClr val="dk2"/>
                </a:solidFill>
                <a:latin typeface="Calibri"/>
                <a:ea typeface="Calibri"/>
                <a:cs typeface="Calibri"/>
                <a:sym typeface="Calibri"/>
              </a:rPr>
              <a:t> → identifiant unique du client</a:t>
            </a:r>
            <a:endParaRPr sz="1100">
              <a:solidFill>
                <a:schemeClr val="dk2"/>
              </a:solidFill>
              <a:latin typeface="Calibri"/>
              <a:ea typeface="Calibri"/>
              <a:cs typeface="Calibri"/>
              <a:sym typeface="Calibri"/>
            </a:endParaRPr>
          </a:p>
          <a:p>
            <a:pPr marL="457200" lvl="0" indent="-298450" algn="l" rtl="0">
              <a:lnSpc>
                <a:spcPct val="115000"/>
              </a:lnSpc>
              <a:spcBef>
                <a:spcPts val="0"/>
              </a:spcBef>
              <a:spcAft>
                <a:spcPts val="0"/>
              </a:spcAft>
              <a:buClr>
                <a:schemeClr val="dk2"/>
              </a:buClr>
              <a:buSzPts val="1100"/>
              <a:buChar char="●"/>
            </a:pPr>
            <a:r>
              <a:rPr lang="fr-FR" sz="1100" b="1">
                <a:solidFill>
                  <a:schemeClr val="dk2"/>
                </a:solidFill>
                <a:latin typeface="Calibri"/>
                <a:ea typeface="Calibri"/>
                <a:cs typeface="Calibri"/>
                <a:sym typeface="Calibri"/>
              </a:rPr>
              <a:t>ville_client</a:t>
            </a:r>
            <a:r>
              <a:rPr lang="fr-FR" sz="1100">
                <a:solidFill>
                  <a:schemeClr val="dk2"/>
                </a:solidFill>
                <a:latin typeface="Calibri"/>
                <a:ea typeface="Calibri"/>
                <a:cs typeface="Calibri"/>
                <a:sym typeface="Calibri"/>
              </a:rPr>
              <a:t> → localisation du client.</a:t>
            </a:r>
            <a:endParaRPr sz="1100">
              <a:solidFill>
                <a:schemeClr val="dk2"/>
              </a:solidFill>
              <a:latin typeface="Calibri"/>
              <a:ea typeface="Calibri"/>
              <a:cs typeface="Calibri"/>
              <a:sym typeface="Calibri"/>
            </a:endParaRPr>
          </a:p>
          <a:p>
            <a:pPr marL="457200" lvl="0" indent="-298450" algn="l" rtl="0">
              <a:lnSpc>
                <a:spcPct val="115000"/>
              </a:lnSpc>
              <a:spcBef>
                <a:spcPts val="0"/>
              </a:spcBef>
              <a:spcAft>
                <a:spcPts val="0"/>
              </a:spcAft>
              <a:buClr>
                <a:schemeClr val="dk2"/>
              </a:buClr>
              <a:buSzPts val="1100"/>
              <a:buChar char="●"/>
            </a:pPr>
            <a:r>
              <a:rPr lang="fr-FR" sz="1100" b="1">
                <a:solidFill>
                  <a:schemeClr val="dk2"/>
                </a:solidFill>
                <a:latin typeface="Calibri"/>
                <a:ea typeface="Calibri"/>
                <a:cs typeface="Calibri"/>
                <a:sym typeface="Calibri"/>
              </a:rPr>
              <a:t>Segment</a:t>
            </a:r>
            <a:r>
              <a:rPr lang="fr-FR" sz="1100">
                <a:solidFill>
                  <a:schemeClr val="dk2"/>
                </a:solidFill>
                <a:latin typeface="Calibri"/>
                <a:ea typeface="Calibri"/>
                <a:cs typeface="Calibri"/>
                <a:sym typeface="Calibri"/>
              </a:rPr>
              <a:t> → type de client selon son niveau d’activité (Premium, Régulier, Inactif).</a:t>
            </a:r>
            <a:endParaRPr sz="1100">
              <a:solidFill>
                <a:schemeClr val="dk2"/>
              </a:solidFill>
              <a:latin typeface="Calibri"/>
              <a:ea typeface="Calibri"/>
              <a:cs typeface="Calibri"/>
              <a:sym typeface="Calibri"/>
            </a:endParaRPr>
          </a:p>
          <a:p>
            <a:pPr marL="457200" lvl="0" indent="-298450" algn="l" rtl="0">
              <a:lnSpc>
                <a:spcPct val="115000"/>
              </a:lnSpc>
              <a:spcBef>
                <a:spcPts val="0"/>
              </a:spcBef>
              <a:spcAft>
                <a:spcPts val="0"/>
              </a:spcAft>
              <a:buClr>
                <a:schemeClr val="dk2"/>
              </a:buClr>
              <a:buSzPts val="1100"/>
              <a:buChar char="●"/>
            </a:pPr>
            <a:r>
              <a:rPr lang="fr-FR" sz="1100" b="1">
                <a:solidFill>
                  <a:schemeClr val="dk2"/>
                </a:solidFill>
                <a:latin typeface="Calibri"/>
                <a:ea typeface="Calibri"/>
                <a:cs typeface="Calibri"/>
                <a:sym typeface="Calibri"/>
              </a:rPr>
              <a:t>Risque_Default</a:t>
            </a:r>
            <a:r>
              <a:rPr lang="fr-FR" sz="1100">
                <a:solidFill>
                  <a:schemeClr val="dk2"/>
                </a:solidFill>
                <a:latin typeface="Calibri"/>
                <a:ea typeface="Calibri"/>
                <a:cs typeface="Calibri"/>
                <a:sym typeface="Calibri"/>
              </a:rPr>
              <a:t> → catégorie de risque calculée à partir du score de défaut.</a:t>
            </a:r>
            <a:endParaRPr sz="1100">
              <a:solidFill>
                <a:schemeClr val="dk2"/>
              </a:solidFill>
              <a:latin typeface="Calibri"/>
              <a:ea typeface="Calibri"/>
              <a:cs typeface="Calibri"/>
              <a:sym typeface="Calibri"/>
            </a:endParaRPr>
          </a:p>
          <a:p>
            <a:pPr marL="457200" lvl="0" indent="-298450" algn="l" rtl="0">
              <a:lnSpc>
                <a:spcPct val="115000"/>
              </a:lnSpc>
              <a:spcBef>
                <a:spcPts val="0"/>
              </a:spcBef>
              <a:spcAft>
                <a:spcPts val="0"/>
              </a:spcAft>
              <a:buClr>
                <a:schemeClr val="dk2"/>
              </a:buClr>
              <a:buSzPts val="1100"/>
              <a:buChar char="●"/>
            </a:pPr>
            <a:r>
              <a:rPr lang="fr-FR" sz="1100" b="1">
                <a:solidFill>
                  <a:schemeClr val="dk2"/>
                </a:solidFill>
                <a:latin typeface="Calibri"/>
                <a:ea typeface="Calibri"/>
                <a:cs typeface="Calibri"/>
                <a:sym typeface="Calibri"/>
              </a:rPr>
              <a:t>Score_Default_0_100</a:t>
            </a:r>
            <a:r>
              <a:rPr lang="fr-FR" sz="1100">
                <a:solidFill>
                  <a:schemeClr val="dk2"/>
                </a:solidFill>
                <a:latin typeface="Calibri"/>
                <a:ea typeface="Calibri"/>
                <a:cs typeface="Calibri"/>
                <a:sym typeface="Calibri"/>
              </a:rPr>
              <a:t> → score numérique du risque, sur une échelle de 0 à 100.</a:t>
            </a:r>
            <a:endParaRPr sz="1100">
              <a:solidFill>
                <a:schemeClr val="dk2"/>
              </a:solidFill>
              <a:latin typeface="Calibri"/>
              <a:ea typeface="Calibri"/>
              <a:cs typeface="Calibri"/>
              <a:sym typeface="Calibri"/>
            </a:endParaRPr>
          </a:p>
          <a:p>
            <a:pPr marL="0" lvl="0" indent="0" algn="l" rtl="0">
              <a:lnSpc>
                <a:spcPct val="115000"/>
              </a:lnSpc>
              <a:spcBef>
                <a:spcPts val="1200"/>
              </a:spcBef>
              <a:spcAft>
                <a:spcPts val="0"/>
              </a:spcAft>
              <a:buNone/>
            </a:pPr>
            <a:r>
              <a:rPr lang="fr-FR" sz="1100">
                <a:solidFill>
                  <a:schemeClr val="dk2"/>
                </a:solidFill>
                <a:latin typeface="Calibri"/>
                <a:ea typeface="Calibri"/>
                <a:cs typeface="Calibri"/>
                <a:sym typeface="Calibri"/>
              </a:rPr>
              <a:t>Les visuels dynamiques affichés dans Power BI permettent de :</a:t>
            </a:r>
            <a:endParaRPr sz="1100">
              <a:solidFill>
                <a:schemeClr val="dk2"/>
              </a:solidFill>
              <a:latin typeface="Calibri"/>
              <a:ea typeface="Calibri"/>
              <a:cs typeface="Calibri"/>
              <a:sym typeface="Calibri"/>
            </a:endParaRPr>
          </a:p>
          <a:p>
            <a:pPr marL="457200" lvl="0" indent="-298450" algn="l" rtl="0">
              <a:lnSpc>
                <a:spcPct val="115000"/>
              </a:lnSpc>
              <a:spcBef>
                <a:spcPts val="1200"/>
              </a:spcBef>
              <a:spcAft>
                <a:spcPts val="0"/>
              </a:spcAft>
              <a:buClr>
                <a:schemeClr val="dk2"/>
              </a:buClr>
              <a:buSzPts val="1100"/>
              <a:buChar char="●"/>
            </a:pPr>
            <a:r>
              <a:rPr lang="fr-FR" sz="1100">
                <a:solidFill>
                  <a:schemeClr val="dk2"/>
                </a:solidFill>
                <a:latin typeface="Calibri"/>
                <a:ea typeface="Calibri"/>
                <a:cs typeface="Calibri"/>
                <a:sym typeface="Calibri"/>
              </a:rPr>
              <a:t>Identifier </a:t>
            </a:r>
            <a:r>
              <a:rPr lang="fr-FR" sz="1100" b="1">
                <a:solidFill>
                  <a:schemeClr val="dk2"/>
                </a:solidFill>
                <a:latin typeface="Calibri"/>
                <a:ea typeface="Calibri"/>
                <a:cs typeface="Calibri"/>
                <a:sym typeface="Calibri"/>
              </a:rPr>
              <a:t>les types de clients les plus exposés</a:t>
            </a:r>
            <a:r>
              <a:rPr lang="fr-FR" sz="1100">
                <a:solidFill>
                  <a:schemeClr val="dk2"/>
                </a:solidFill>
                <a:latin typeface="Calibri"/>
                <a:ea typeface="Calibri"/>
                <a:cs typeface="Calibri"/>
                <a:sym typeface="Calibri"/>
              </a:rPr>
              <a:t> à un risque de défaut.</a:t>
            </a:r>
            <a:endParaRPr sz="1100">
              <a:solidFill>
                <a:schemeClr val="dk2"/>
              </a:solidFill>
              <a:latin typeface="Calibri"/>
              <a:ea typeface="Calibri"/>
              <a:cs typeface="Calibri"/>
              <a:sym typeface="Calibri"/>
            </a:endParaRPr>
          </a:p>
          <a:p>
            <a:pPr marL="457200" lvl="0" indent="-298450" algn="l" rtl="0">
              <a:lnSpc>
                <a:spcPct val="115000"/>
              </a:lnSpc>
              <a:spcBef>
                <a:spcPts val="0"/>
              </a:spcBef>
              <a:spcAft>
                <a:spcPts val="0"/>
              </a:spcAft>
              <a:buClr>
                <a:schemeClr val="dk2"/>
              </a:buClr>
              <a:buSzPts val="1100"/>
              <a:buChar char="●"/>
            </a:pPr>
            <a:r>
              <a:rPr lang="fr-FR" sz="1100">
                <a:solidFill>
                  <a:schemeClr val="dk2"/>
                </a:solidFill>
                <a:latin typeface="Calibri"/>
                <a:ea typeface="Calibri"/>
                <a:cs typeface="Calibri"/>
                <a:sym typeface="Calibri"/>
              </a:rPr>
              <a:t>Comparer </a:t>
            </a:r>
            <a:r>
              <a:rPr lang="fr-FR" sz="1100" b="1">
                <a:solidFill>
                  <a:schemeClr val="dk2"/>
                </a:solidFill>
                <a:latin typeface="Calibri"/>
                <a:ea typeface="Calibri"/>
                <a:cs typeface="Calibri"/>
                <a:sym typeface="Calibri"/>
              </a:rPr>
              <a:t>les moyennes de scores</a:t>
            </a:r>
            <a:r>
              <a:rPr lang="fr-FR" sz="1100">
                <a:solidFill>
                  <a:schemeClr val="dk2"/>
                </a:solidFill>
                <a:latin typeface="Calibri"/>
                <a:ea typeface="Calibri"/>
                <a:cs typeface="Calibri"/>
                <a:sym typeface="Calibri"/>
              </a:rPr>
              <a:t> entre les segments (Premium, Régulier, Inactif).</a:t>
            </a:r>
            <a:endParaRPr sz="1100">
              <a:solidFill>
                <a:schemeClr val="dk2"/>
              </a:solidFill>
              <a:latin typeface="Calibri"/>
              <a:ea typeface="Calibri"/>
              <a:cs typeface="Calibri"/>
              <a:sym typeface="Calibri"/>
            </a:endParaRPr>
          </a:p>
          <a:p>
            <a:pPr marL="457200" lvl="0" indent="-298450" algn="l" rtl="0">
              <a:lnSpc>
                <a:spcPct val="115000"/>
              </a:lnSpc>
              <a:spcBef>
                <a:spcPts val="0"/>
              </a:spcBef>
              <a:spcAft>
                <a:spcPts val="0"/>
              </a:spcAft>
              <a:buClr>
                <a:schemeClr val="dk2"/>
              </a:buClr>
              <a:buSzPts val="1100"/>
              <a:buChar char="●"/>
            </a:pPr>
            <a:r>
              <a:rPr lang="fr-FR" sz="1100">
                <a:solidFill>
                  <a:schemeClr val="dk2"/>
                </a:solidFill>
                <a:latin typeface="Calibri"/>
                <a:ea typeface="Calibri"/>
                <a:cs typeface="Calibri"/>
                <a:sym typeface="Calibri"/>
              </a:rPr>
              <a:t>Visualiser </a:t>
            </a:r>
            <a:r>
              <a:rPr lang="fr-FR" sz="1100" b="1">
                <a:solidFill>
                  <a:schemeClr val="dk2"/>
                </a:solidFill>
                <a:latin typeface="Calibri"/>
                <a:ea typeface="Calibri"/>
                <a:cs typeface="Calibri"/>
                <a:sym typeface="Calibri"/>
              </a:rPr>
              <a:t>la distribution géographique des clients</a:t>
            </a:r>
            <a:r>
              <a:rPr lang="fr-FR" sz="1100">
                <a:solidFill>
                  <a:schemeClr val="dk2"/>
                </a:solidFill>
                <a:latin typeface="Calibri"/>
                <a:ea typeface="Calibri"/>
                <a:cs typeface="Calibri"/>
                <a:sym typeface="Calibri"/>
              </a:rPr>
              <a:t> pour cibler les agences les plus concernées.</a:t>
            </a:r>
            <a:endParaRPr sz="1100">
              <a:solidFill>
                <a:schemeClr val="dk2"/>
              </a:solidFill>
              <a:latin typeface="Calibri"/>
              <a:ea typeface="Calibri"/>
              <a:cs typeface="Calibri"/>
              <a:sym typeface="Calibri"/>
            </a:endParaRPr>
          </a:p>
          <a:p>
            <a:pPr marL="0" lvl="0" indent="0" algn="l" rtl="0">
              <a:spcBef>
                <a:spcPts val="1200"/>
              </a:spcBef>
              <a:spcAft>
                <a:spcPts val="0"/>
              </a:spcAft>
              <a:buNone/>
            </a:pPr>
            <a:endParaRPr sz="1100">
              <a:solidFill>
                <a:schemeClr val="dk2"/>
              </a:solidFill>
              <a:latin typeface="Calibri"/>
              <a:ea typeface="Calibri"/>
              <a:cs typeface="Calibri"/>
              <a:sym typeface="Calibri"/>
            </a:endParaRPr>
          </a:p>
        </p:txBody>
      </p:sp>
      <p:sp>
        <p:nvSpPr>
          <p:cNvPr id="371" name="Google Shape;371;g3a2096760fb_0_109"/>
          <p:cNvSpPr/>
          <p:nvPr/>
        </p:nvSpPr>
        <p:spPr>
          <a:xfrm>
            <a:off x="7788408" y="6453377"/>
            <a:ext cx="13197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372" name="Google Shape;372;g3a2096760fb_0_109"/>
          <p:cNvSpPr txBox="1">
            <a:spLocks noGrp="1"/>
          </p:cNvSpPr>
          <p:nvPr>
            <p:ph type="sldNum" idx="12"/>
          </p:nvPr>
        </p:nvSpPr>
        <p:spPr>
          <a:xfrm>
            <a:off x="4572000" y="6448251"/>
            <a:ext cx="792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19</a:t>
            </a:fld>
            <a:endParaRPr sz="2400" b="1">
              <a:solidFill>
                <a:srgbClr val="D9B300"/>
              </a:solidFill>
            </a:endParaRPr>
          </a:p>
        </p:txBody>
      </p:sp>
      <p:sp>
        <p:nvSpPr>
          <p:cNvPr id="373" name="Google Shape;373;g3a2096760fb_0_109"/>
          <p:cNvSpPr txBox="1"/>
          <p:nvPr/>
        </p:nvSpPr>
        <p:spPr>
          <a:xfrm>
            <a:off x="3247402" y="6448251"/>
            <a:ext cx="132451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pic>
        <p:nvPicPr>
          <p:cNvPr id="374" name="Google Shape;374;g3a2096760fb_0_109"/>
          <p:cNvPicPr preferRelativeResize="0"/>
          <p:nvPr/>
        </p:nvPicPr>
        <p:blipFill>
          <a:blip r:embed="rId4">
            <a:alphaModFix/>
          </a:blip>
          <a:stretch>
            <a:fillRect/>
          </a:stretch>
        </p:blipFill>
        <p:spPr>
          <a:xfrm>
            <a:off x="5055275" y="1305300"/>
            <a:ext cx="3846700" cy="3284400"/>
          </a:xfrm>
          <a:prstGeom prst="rect">
            <a:avLst/>
          </a:prstGeom>
          <a:noFill/>
          <a:ln>
            <a:noFill/>
          </a:ln>
        </p:spPr>
      </p:pic>
      <p:sp>
        <p:nvSpPr>
          <p:cNvPr id="375" name="Google Shape;375;g3a2096760fb_0_109"/>
          <p:cNvSpPr txBox="1"/>
          <p:nvPr/>
        </p:nvSpPr>
        <p:spPr>
          <a:xfrm>
            <a:off x="5001925" y="4655700"/>
            <a:ext cx="3953400" cy="134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100">
                <a:solidFill>
                  <a:schemeClr val="dk2"/>
                </a:solidFill>
                <a:latin typeface="Calibri"/>
                <a:ea typeface="Calibri"/>
                <a:cs typeface="Calibri"/>
                <a:sym typeface="Calibri"/>
              </a:rPr>
              <a:t>Grâce à cette table de synthèse, nous avons pu centraliser les indicateurs clés et mettre en place une analyse décisionnelle.</a:t>
            </a:r>
            <a:endParaRPr sz="1100">
              <a:solidFill>
                <a:schemeClr val="dk2"/>
              </a:solidFill>
              <a:latin typeface="Calibri"/>
              <a:ea typeface="Calibri"/>
              <a:cs typeface="Calibri"/>
              <a:sym typeface="Calibri"/>
            </a:endParaRPr>
          </a:p>
          <a:p>
            <a:pPr marL="0" lvl="0" indent="0" algn="l" rtl="0">
              <a:spcBef>
                <a:spcPts val="0"/>
              </a:spcBef>
              <a:spcAft>
                <a:spcPts val="0"/>
              </a:spcAft>
              <a:buNone/>
            </a:pPr>
            <a:endParaRPr sz="1100">
              <a:solidFill>
                <a:schemeClr val="dk2"/>
              </a:solidFill>
              <a:latin typeface="Calibri"/>
              <a:ea typeface="Calibri"/>
              <a:cs typeface="Calibri"/>
              <a:sym typeface="Calibri"/>
            </a:endParaRPr>
          </a:p>
          <a:p>
            <a:pPr marL="0" lvl="0" indent="0" algn="l" rtl="0">
              <a:spcBef>
                <a:spcPts val="0"/>
              </a:spcBef>
              <a:spcAft>
                <a:spcPts val="0"/>
              </a:spcAft>
              <a:buNone/>
            </a:pPr>
            <a:r>
              <a:rPr lang="fr-FR" sz="1100">
                <a:solidFill>
                  <a:schemeClr val="dk2"/>
                </a:solidFill>
                <a:latin typeface="Calibri"/>
                <a:ea typeface="Calibri"/>
                <a:cs typeface="Calibri"/>
                <a:sym typeface="Calibri"/>
              </a:rPr>
              <a:t>Elle permet de mieux anticiper les comportements à risque et d’orienter les actions vers les segments clients les plus stratégiques.</a:t>
            </a:r>
            <a:endParaRPr sz="1100">
              <a:solidFill>
                <a:schemeClr val="dk2"/>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pic>
        <p:nvPicPr>
          <p:cNvPr id="381" name="Google Shape;381;g3a2096760fb_0_152" descr="C:\Users\Damien\Desktop\SDA_SEMINAIRE\Projet\projet SDA7 - 2025\projet SDA7 - 2025\Logo_5_t2.png"/>
          <p:cNvPicPr preferRelativeResize="0"/>
          <p:nvPr/>
        </p:nvPicPr>
        <p:blipFill rotWithShape="1">
          <a:blip r:embed="rId3">
            <a:alphaModFix/>
          </a:blip>
          <a:srcRect/>
          <a:stretch/>
        </p:blipFill>
        <p:spPr>
          <a:xfrm>
            <a:off x="63501" y="79500"/>
            <a:ext cx="3356371" cy="906856"/>
          </a:xfrm>
          <a:prstGeom prst="rect">
            <a:avLst/>
          </a:prstGeom>
          <a:noFill/>
          <a:ln>
            <a:noFill/>
          </a:ln>
        </p:spPr>
      </p:pic>
      <p:sp>
        <p:nvSpPr>
          <p:cNvPr id="382" name="Google Shape;382;g3a2096760fb_0_152"/>
          <p:cNvSpPr/>
          <p:nvPr/>
        </p:nvSpPr>
        <p:spPr>
          <a:xfrm>
            <a:off x="4572000" y="6164493"/>
            <a:ext cx="4536000" cy="216000"/>
          </a:xfrm>
          <a:prstGeom prst="rect">
            <a:avLst/>
          </a:prstGeom>
          <a:solidFill>
            <a:srgbClr val="12239E"/>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3" name="Google Shape;383;g3a2096760fb_0_152"/>
          <p:cNvSpPr/>
          <p:nvPr/>
        </p:nvSpPr>
        <p:spPr>
          <a:xfrm>
            <a:off x="36000" y="6164493"/>
            <a:ext cx="4536000" cy="216000"/>
          </a:xfrm>
          <a:prstGeom prst="rect">
            <a:avLst/>
          </a:prstGeom>
          <a:solidFill>
            <a:srgbClr val="D9B300"/>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4" name="Google Shape;384;g3a2096760fb_0_152"/>
          <p:cNvSpPr/>
          <p:nvPr/>
        </p:nvSpPr>
        <p:spPr>
          <a:xfrm>
            <a:off x="241875" y="1033675"/>
            <a:ext cx="8545500" cy="369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b="1">
                <a:solidFill>
                  <a:schemeClr val="dk2"/>
                </a:solidFill>
                <a:latin typeface="Calibri"/>
                <a:ea typeface="Calibri"/>
                <a:cs typeface="Calibri"/>
                <a:sym typeface="Calibri"/>
              </a:rPr>
              <a:t>Aperçu du visuel : </a:t>
            </a:r>
            <a:endParaRPr b="1">
              <a:solidFill>
                <a:schemeClr val="dk2"/>
              </a:solidFill>
              <a:latin typeface="Calibri"/>
              <a:ea typeface="Calibri"/>
              <a:cs typeface="Calibri"/>
              <a:sym typeface="Calibri"/>
            </a:endParaRPr>
          </a:p>
        </p:txBody>
      </p:sp>
      <p:sp>
        <p:nvSpPr>
          <p:cNvPr id="385" name="Google Shape;385;g3a2096760fb_0_152"/>
          <p:cNvSpPr/>
          <p:nvPr/>
        </p:nvSpPr>
        <p:spPr>
          <a:xfrm>
            <a:off x="7788408" y="6453377"/>
            <a:ext cx="13197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800" b="1">
                <a:solidFill>
                  <a:srgbClr val="12239E"/>
                </a:solidFill>
                <a:latin typeface="Calibri"/>
                <a:ea typeface="Calibri"/>
                <a:cs typeface="Calibri"/>
                <a:sym typeface="Calibri"/>
              </a:rPr>
              <a:t>15/11/2025</a:t>
            </a:r>
            <a:endParaRPr sz="1800">
              <a:solidFill>
                <a:schemeClr val="dk1"/>
              </a:solidFill>
              <a:latin typeface="Calibri"/>
              <a:ea typeface="Calibri"/>
              <a:cs typeface="Calibri"/>
              <a:sym typeface="Calibri"/>
            </a:endParaRPr>
          </a:p>
        </p:txBody>
      </p:sp>
      <p:sp>
        <p:nvSpPr>
          <p:cNvPr id="386" name="Google Shape;386;g3a2096760fb_0_152"/>
          <p:cNvSpPr txBox="1">
            <a:spLocks noGrp="1"/>
          </p:cNvSpPr>
          <p:nvPr>
            <p:ph type="sldNum" idx="12"/>
          </p:nvPr>
        </p:nvSpPr>
        <p:spPr>
          <a:xfrm>
            <a:off x="4572000" y="6448251"/>
            <a:ext cx="7920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fr-FR" sz="2400" b="1">
                <a:solidFill>
                  <a:srgbClr val="D9B300"/>
                </a:solidFill>
              </a:rPr>
              <a:t>20</a:t>
            </a:fld>
            <a:endParaRPr sz="2400" b="1">
              <a:solidFill>
                <a:srgbClr val="D9B300"/>
              </a:solidFill>
            </a:endParaRPr>
          </a:p>
        </p:txBody>
      </p:sp>
      <p:sp>
        <p:nvSpPr>
          <p:cNvPr id="387" name="Google Shape;387;g3a2096760fb_0_152"/>
          <p:cNvSpPr txBox="1"/>
          <p:nvPr/>
        </p:nvSpPr>
        <p:spPr>
          <a:xfrm>
            <a:off x="3264493" y="6448251"/>
            <a:ext cx="1307419"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fr-FR" sz="2400" b="1" dirty="0">
                <a:solidFill>
                  <a:srgbClr val="D9B300"/>
                </a:solidFill>
                <a:latin typeface="Calibri"/>
                <a:ea typeface="Calibri"/>
                <a:cs typeface="Calibri"/>
                <a:sym typeface="Calibri"/>
              </a:rPr>
              <a:t>Page</a:t>
            </a:r>
            <a:endParaRPr sz="2400" b="1" dirty="0">
              <a:solidFill>
                <a:srgbClr val="D9B300"/>
              </a:solidFill>
              <a:latin typeface="Calibri"/>
              <a:ea typeface="Calibri"/>
              <a:cs typeface="Calibri"/>
              <a:sym typeface="Calibri"/>
            </a:endParaRPr>
          </a:p>
        </p:txBody>
      </p:sp>
      <p:pic>
        <p:nvPicPr>
          <p:cNvPr id="388" name="Google Shape;388;g3a2096760fb_0_152"/>
          <p:cNvPicPr preferRelativeResize="0"/>
          <p:nvPr/>
        </p:nvPicPr>
        <p:blipFill>
          <a:blip r:embed="rId4">
            <a:alphaModFix/>
          </a:blip>
          <a:stretch>
            <a:fillRect/>
          </a:stretch>
        </p:blipFill>
        <p:spPr>
          <a:xfrm>
            <a:off x="241875" y="1412738"/>
            <a:ext cx="8142764" cy="4609124"/>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theme/theme1.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882</Words>
  <Application>Microsoft Office PowerPoint</Application>
  <PresentationFormat>Affichage à l'écran (4:3)</PresentationFormat>
  <Paragraphs>292</Paragraphs>
  <Slides>20</Slides>
  <Notes>20</Notes>
  <HiddenSlides>0</HiddenSlides>
  <MMClips>0</MMClips>
  <ScaleCrop>false</ScaleCrop>
  <HeadingPairs>
    <vt:vector size="4" baseType="variant">
      <vt:variant>
        <vt:lpstr>Thème</vt:lpstr>
      </vt:variant>
      <vt:variant>
        <vt:i4>1</vt:i4>
      </vt:variant>
      <vt:variant>
        <vt:lpstr>Titres des diapositives</vt:lpstr>
      </vt:variant>
      <vt:variant>
        <vt:i4>20</vt:i4>
      </vt:variant>
    </vt:vector>
  </HeadingPairs>
  <TitlesOfParts>
    <vt:vector size="21" baseType="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Damien</dc:creator>
  <cp:lastModifiedBy>Damien</cp:lastModifiedBy>
  <cp:revision>1</cp:revision>
  <dcterms:created xsi:type="dcterms:W3CDTF">2025-11-10T07:44:14Z</dcterms:created>
  <dcterms:modified xsi:type="dcterms:W3CDTF">2025-11-10T19:26:16Z</dcterms:modified>
</cp:coreProperties>
</file>